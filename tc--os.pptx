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7" r:id="rId2"/>
    <p:sldId id="256" r:id="rId3"/>
    <p:sldId id="257" r:id="rId4"/>
    <p:sldId id="258" r:id="rId5"/>
    <p:sldId id="259" r:id="rId6"/>
    <p:sldId id="261" r:id="rId7"/>
    <p:sldId id="262" r:id="rId8"/>
    <p:sldId id="263" r:id="rId9"/>
    <p:sldId id="268" r:id="rId10"/>
    <p:sldId id="260"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A4DCEE-25F7-488F-9BB3-1A249ACDDF34}" type="datetimeFigureOut">
              <a:rPr lang="en-IN" smtClean="0"/>
              <a:t>19-07-2026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5A5B-B133-4112-B72F-D248D14EDA3C}" type="slidenum">
              <a:rPr lang="en-IN" smtClean="0"/>
              <a:t>‹#›</a:t>
            </a:fld>
            <a:endParaRPr lang="en-IN"/>
          </a:p>
        </p:txBody>
      </p:sp>
    </p:spTree>
    <p:extLst>
      <p:ext uri="{BB962C8B-B14F-4D97-AF65-F5344CB8AC3E}">
        <p14:creationId xmlns:p14="http://schemas.microsoft.com/office/powerpoint/2010/main" val="4031140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E2E0EDA-3F77-46C1-917D-9399C852F688}" type="slidenum">
              <a:rPr lang="en-IN" smtClean="0"/>
              <a:t>1</a:t>
            </a:fld>
            <a:endParaRPr lang="en-IN"/>
          </a:p>
        </p:txBody>
      </p:sp>
    </p:spTree>
    <p:extLst>
      <p:ext uri="{BB962C8B-B14F-4D97-AF65-F5344CB8AC3E}">
        <p14:creationId xmlns:p14="http://schemas.microsoft.com/office/powerpoint/2010/main" val="2808591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D8E16-504B-C945-586C-960BD28DA9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17C3865-52E5-C076-6309-438F05E54F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98BD72D-BA9B-3250-B419-E978C0672ECD}"/>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5" name="Footer Placeholder 4">
            <a:extLst>
              <a:ext uri="{FF2B5EF4-FFF2-40B4-BE49-F238E27FC236}">
                <a16:creationId xmlns:a16="http://schemas.microsoft.com/office/drawing/2014/main" id="{2FD9F81C-DFF0-7182-C69B-4DCDD8A2C3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BADBFC-AA3C-5A7B-4AB0-60642684A072}"/>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2659057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2B256-DEB9-A473-4E56-642D13F65F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C07DD4-0194-8740-6C56-BE974D2023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D38936-2072-9A1C-A7C4-B66A2A9B0626}"/>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5" name="Footer Placeholder 4">
            <a:extLst>
              <a:ext uri="{FF2B5EF4-FFF2-40B4-BE49-F238E27FC236}">
                <a16:creationId xmlns:a16="http://schemas.microsoft.com/office/drawing/2014/main" id="{254F5ADA-0117-28A6-92AB-ED17DB128F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115D0B-CE8D-74FB-0F27-DB05B1346141}"/>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884892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8318E-1BE3-A5ED-9B98-C70C0EF77F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3D44CC5-C9DD-3405-A9B7-793C3CDB5E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71B75E-6DBD-F323-1494-7579EED61F0E}"/>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5" name="Footer Placeholder 4">
            <a:extLst>
              <a:ext uri="{FF2B5EF4-FFF2-40B4-BE49-F238E27FC236}">
                <a16:creationId xmlns:a16="http://schemas.microsoft.com/office/drawing/2014/main" id="{8C450B4D-7154-7D27-39EF-29B60ED158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8FA189-5DBD-B27E-B49E-64DD8D403766}"/>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1836660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78E1A-A917-568C-8D00-E95F41310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FB171E-34A0-7663-1908-55885FFE0A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D794FE-4CF7-CF2C-C7BE-2FE688957D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1524DA-008F-8526-F94C-71506165942F}"/>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6" name="Footer Placeholder 5">
            <a:extLst>
              <a:ext uri="{FF2B5EF4-FFF2-40B4-BE49-F238E27FC236}">
                <a16:creationId xmlns:a16="http://schemas.microsoft.com/office/drawing/2014/main" id="{BFABA02B-4309-B3B0-7756-AEF7296439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08B6AC-4D17-B71F-5CEC-3726F50459E7}"/>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3513352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9D7C-785B-8B76-316E-62FA5D3ED7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62F7AC-0220-EAD3-EE87-4E583EFE4B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6E7520-8151-E5C5-5242-4CDC6810F4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825D87-0B35-9A98-DE70-7983EDA047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E324D0-8D5C-E917-9F6E-B19EA96C55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590F224-2C18-9C09-A408-88C610E8E7A2}"/>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8" name="Footer Placeholder 7">
            <a:extLst>
              <a:ext uri="{FF2B5EF4-FFF2-40B4-BE49-F238E27FC236}">
                <a16:creationId xmlns:a16="http://schemas.microsoft.com/office/drawing/2014/main" id="{A5860394-36F2-6740-E5EC-3A6EBB5AB5A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258EFCF-DFEE-2AA8-3576-07432E70199B}"/>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401058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CEDBC-AC5F-433D-97C3-FDC5D2B5CF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3DD2A8-EE75-AE78-D089-F87EE57084B5}"/>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4" name="Footer Placeholder 3">
            <a:extLst>
              <a:ext uri="{FF2B5EF4-FFF2-40B4-BE49-F238E27FC236}">
                <a16:creationId xmlns:a16="http://schemas.microsoft.com/office/drawing/2014/main" id="{A44FA8A2-477A-1582-22E7-C28B9D1AD6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886BE0-AF35-D9FA-E09D-2B76AD677A41}"/>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113556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3DBF04-7038-A198-C08F-9086F516B45C}"/>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3" name="Footer Placeholder 2">
            <a:extLst>
              <a:ext uri="{FF2B5EF4-FFF2-40B4-BE49-F238E27FC236}">
                <a16:creationId xmlns:a16="http://schemas.microsoft.com/office/drawing/2014/main" id="{45B2F192-596E-03C2-2785-60BB737E9D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6E18133-F9A8-AA0D-DBB8-F92069513BF5}"/>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1975361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C72D2-DBDB-39E9-083E-55DFFA7A65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0F0A3A-6E7F-8A75-4671-597DA93921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8B9957-CCEF-0D6A-1288-02601687E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463FE-4DE9-1056-5E81-AFF1D098228C}"/>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6" name="Footer Placeholder 5">
            <a:extLst>
              <a:ext uri="{FF2B5EF4-FFF2-40B4-BE49-F238E27FC236}">
                <a16:creationId xmlns:a16="http://schemas.microsoft.com/office/drawing/2014/main" id="{121D6197-AFD3-3529-A3AA-D5F9506E59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004C28-C02F-BBCE-FDB2-ABE6FFF6F31A}"/>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290364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394BE-778B-C57B-0E76-66EB82D935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8143B0-685C-A169-06D0-E053194C8D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D636A7-99F7-01B2-A49F-19EAEA056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886A8B-745B-9937-4C75-41838F0E39EC}"/>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6" name="Footer Placeholder 5">
            <a:extLst>
              <a:ext uri="{FF2B5EF4-FFF2-40B4-BE49-F238E27FC236}">
                <a16:creationId xmlns:a16="http://schemas.microsoft.com/office/drawing/2014/main" id="{0550F5D2-419E-3F1D-F1CC-CD2CBDD92F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2C55D1-2F64-4BE2-C9D5-9EF529D140D0}"/>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1354949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23986-E692-357D-BD99-7F07DD305F5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0227B2-A22E-DDAA-6361-DE30AE2053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581FFA-E45D-0071-F283-A39B3237B8F1}"/>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5" name="Footer Placeholder 4">
            <a:extLst>
              <a:ext uri="{FF2B5EF4-FFF2-40B4-BE49-F238E27FC236}">
                <a16:creationId xmlns:a16="http://schemas.microsoft.com/office/drawing/2014/main" id="{EEAC7431-FCBB-BEC6-18D4-6858E40CEC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5290D0-F584-8260-337E-BAD4801E539F}"/>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4037888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73CF61-98E6-9EF6-F677-E48AC06413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EFB54D-53A5-BD9B-1C11-9F2F5EDB23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C28DCD-03C7-7C75-B688-258BD0FFEBA9}"/>
              </a:ext>
            </a:extLst>
          </p:cNvPr>
          <p:cNvSpPr>
            <a:spLocks noGrp="1"/>
          </p:cNvSpPr>
          <p:nvPr>
            <p:ph type="dt" sz="half" idx="10"/>
          </p:nvPr>
        </p:nvSpPr>
        <p:spPr/>
        <p:txBody>
          <a:bodyPr/>
          <a:lstStyle/>
          <a:p>
            <a:fld id="{1D2E905B-B4AC-4612-929A-B6992947BBB2}" type="datetimeFigureOut">
              <a:rPr lang="en-IN" smtClean="0"/>
              <a:t>19-07-2026</a:t>
            </a:fld>
            <a:endParaRPr lang="en-IN"/>
          </a:p>
        </p:txBody>
      </p:sp>
      <p:sp>
        <p:nvSpPr>
          <p:cNvPr id="5" name="Footer Placeholder 4">
            <a:extLst>
              <a:ext uri="{FF2B5EF4-FFF2-40B4-BE49-F238E27FC236}">
                <a16:creationId xmlns:a16="http://schemas.microsoft.com/office/drawing/2014/main" id="{2F0AFE88-B6F4-025A-09DA-364D86483D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C214B6-69D8-B0DF-6904-29AF5F37397D}"/>
              </a:ext>
            </a:extLst>
          </p:cNvPr>
          <p:cNvSpPr>
            <a:spLocks noGrp="1"/>
          </p:cNvSpPr>
          <p:nvPr>
            <p:ph type="sldNum" sz="quarter" idx="12"/>
          </p:nvPr>
        </p:nvSpPr>
        <p:spPr/>
        <p:txBody>
          <a:bodyPr/>
          <a:lstStyle/>
          <a:p>
            <a:fld id="{495DEA59-7DB4-4986-8F46-AB2EDD1E7531}" type="slidenum">
              <a:rPr lang="en-IN" smtClean="0"/>
              <a:t>‹#›</a:t>
            </a:fld>
            <a:endParaRPr lang="en-IN"/>
          </a:p>
        </p:txBody>
      </p:sp>
    </p:spTree>
    <p:extLst>
      <p:ext uri="{BB962C8B-B14F-4D97-AF65-F5344CB8AC3E}">
        <p14:creationId xmlns:p14="http://schemas.microsoft.com/office/powerpoint/2010/main" val="1637481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EA7EF8-A3C7-BA08-D89F-4806D4287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D7D6E9-6E99-5350-C0E2-DAF7952EA3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4754AB-2B28-1CB4-A59C-9E83105EB4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2E905B-B4AC-4612-929A-B6992947BBB2}" type="datetimeFigureOut">
              <a:rPr lang="en-IN" smtClean="0"/>
              <a:t>19-07-2026</a:t>
            </a:fld>
            <a:endParaRPr lang="en-IN"/>
          </a:p>
        </p:txBody>
      </p:sp>
      <p:sp>
        <p:nvSpPr>
          <p:cNvPr id="5" name="Footer Placeholder 4">
            <a:extLst>
              <a:ext uri="{FF2B5EF4-FFF2-40B4-BE49-F238E27FC236}">
                <a16:creationId xmlns:a16="http://schemas.microsoft.com/office/drawing/2014/main" id="{B1BFF671-02B8-E499-E97D-E567870CAC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3A62DD9-B29F-E86C-EA37-A5F8AE5290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5DEA59-7DB4-4986-8F46-AB2EDD1E7531}" type="slidenum">
              <a:rPr lang="en-IN" smtClean="0"/>
              <a:t>‹#›</a:t>
            </a:fld>
            <a:endParaRPr lang="en-IN"/>
          </a:p>
        </p:txBody>
      </p:sp>
    </p:spTree>
    <p:extLst>
      <p:ext uri="{BB962C8B-B14F-4D97-AF65-F5344CB8AC3E}">
        <p14:creationId xmlns:p14="http://schemas.microsoft.com/office/powerpoint/2010/main" val="740888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6366F-9808-2246-C586-3BB02DD4B1E5}"/>
              </a:ext>
            </a:extLst>
          </p:cNvPr>
          <p:cNvSpPr>
            <a:spLocks noGrp="1"/>
          </p:cNvSpPr>
          <p:nvPr>
            <p:ph type="title"/>
          </p:nvPr>
        </p:nvSpPr>
        <p:spPr>
          <a:xfrm>
            <a:off x="942976" y="707663"/>
            <a:ext cx="10515600" cy="1752600"/>
          </a:xfrm>
        </p:spPr>
        <p:txBody>
          <a:bodyPr>
            <a:normAutofit/>
          </a:bodyPr>
          <a:lstStyle/>
          <a:p>
            <a:r>
              <a:rPr lang="en-IN" dirty="0"/>
              <a:t>                   </a:t>
            </a:r>
            <a:br>
              <a:rPr lang="en-IN" dirty="0"/>
            </a:br>
            <a:r>
              <a:rPr lang="en-IN" dirty="0"/>
              <a:t>                   </a:t>
            </a:r>
            <a:r>
              <a:rPr lang="en-IN" sz="4800" b="1" dirty="0">
                <a:latin typeface="Times New Roman" panose="02020603050405020304" pitchFamily="18" charset="0"/>
                <a:cs typeface="Times New Roman" panose="02020603050405020304" pitchFamily="18" charset="0"/>
              </a:rPr>
              <a:t>Technical Presentation</a:t>
            </a:r>
          </a:p>
        </p:txBody>
      </p:sp>
      <p:pic>
        <p:nvPicPr>
          <p:cNvPr id="4" name="Google Shape;90;p13" descr="C:\Users\ADMIN\AppData\Local\Microsoft\Windows\INetCache\Content.MSO\C29DB0A6.tmp">
            <a:extLst>
              <a:ext uri="{FF2B5EF4-FFF2-40B4-BE49-F238E27FC236}">
                <a16:creationId xmlns:a16="http://schemas.microsoft.com/office/drawing/2014/main" id="{7EE59849-9563-4136-BE64-6C1A6FEB9D3F}"/>
              </a:ext>
            </a:extLst>
          </p:cNvPr>
          <p:cNvPicPr preferRelativeResize="0"/>
          <p:nvPr/>
        </p:nvPicPr>
        <p:blipFill rotWithShape="1">
          <a:blip r:embed="rId3">
            <a:alphaModFix/>
          </a:blip>
          <a:srcRect/>
          <a:stretch/>
        </p:blipFill>
        <p:spPr>
          <a:xfrm>
            <a:off x="1211262" y="112712"/>
            <a:ext cx="10037762" cy="1030287"/>
          </a:xfrm>
          <a:prstGeom prst="rect">
            <a:avLst/>
          </a:prstGeom>
          <a:noFill/>
          <a:ln>
            <a:noFill/>
          </a:ln>
        </p:spPr>
      </p:pic>
      <p:sp>
        <p:nvSpPr>
          <p:cNvPr id="8" name="TextBox 7">
            <a:extLst>
              <a:ext uri="{FF2B5EF4-FFF2-40B4-BE49-F238E27FC236}">
                <a16:creationId xmlns:a16="http://schemas.microsoft.com/office/drawing/2014/main" id="{40C737AC-C6A3-8A85-E37D-2BC3D8FE9012}"/>
              </a:ext>
            </a:extLst>
          </p:cNvPr>
          <p:cNvSpPr txBox="1"/>
          <p:nvPr/>
        </p:nvSpPr>
        <p:spPr>
          <a:xfrm>
            <a:off x="600891" y="4345394"/>
            <a:ext cx="3437467" cy="1569660"/>
          </a:xfrm>
          <a:prstGeom prst="rect">
            <a:avLst/>
          </a:prstGeom>
          <a:noFill/>
        </p:spPr>
        <p:txBody>
          <a:bodyPr wrap="square">
            <a:spAutoFit/>
          </a:bodyPr>
          <a:lstStyle/>
          <a:p>
            <a:r>
              <a:rPr lang="en-IN" sz="2400" dirty="0">
                <a:latin typeface="Arial Rounded MT Bold" panose="020F0704030504030204" pitchFamily="34" charset="0"/>
              </a:rPr>
              <a:t> </a:t>
            </a:r>
            <a:br>
              <a:rPr lang="en-IN" sz="2400" dirty="0">
                <a:latin typeface="Arial Rounded MT Bold" panose="020F0704030504030204" pitchFamily="34" charset="0"/>
              </a:rPr>
            </a:br>
            <a:r>
              <a:rPr lang="en-IN" sz="2400" dirty="0">
                <a:latin typeface="Arial Rounded MT Bold" panose="020F0704030504030204" pitchFamily="34" charset="0"/>
              </a:rPr>
              <a:t> </a:t>
            </a:r>
            <a:r>
              <a:rPr lang="en-IN" sz="2400" b="1" dirty="0">
                <a:latin typeface="Arial Rounded MT Bold" panose="020F0704030504030204" pitchFamily="34" charset="0"/>
                <a:cs typeface="Times New Roman" panose="02020603050405020304" pitchFamily="18" charset="0"/>
              </a:rPr>
              <a:t>BY</a:t>
            </a:r>
          </a:p>
          <a:p>
            <a:r>
              <a:rPr lang="en-IN" sz="2400" b="1" dirty="0">
                <a:latin typeface="Arial Rounded MT Bold" panose="020F0704030504030204" pitchFamily="34" charset="0"/>
                <a:cs typeface="Times New Roman" panose="02020603050405020304" pitchFamily="18" charset="0"/>
              </a:rPr>
              <a:t> </a:t>
            </a:r>
            <a:r>
              <a:rPr lang="en-IN" sz="2400" b="1" dirty="0" err="1">
                <a:latin typeface="Arial Rounded MT Bold" panose="020F0704030504030204" pitchFamily="34" charset="0"/>
                <a:cs typeface="Times New Roman" panose="02020603050405020304" pitchFamily="18" charset="0"/>
              </a:rPr>
              <a:t>k.jaya</a:t>
            </a:r>
            <a:r>
              <a:rPr lang="en-IN" sz="2400" b="1" dirty="0">
                <a:latin typeface="Arial Rounded MT Bold" panose="020F0704030504030204" pitchFamily="34" charset="0"/>
                <a:cs typeface="Times New Roman" panose="02020603050405020304" pitchFamily="18" charset="0"/>
              </a:rPr>
              <a:t> venkata sai</a:t>
            </a:r>
          </a:p>
          <a:p>
            <a:r>
              <a:rPr lang="en-IN" sz="2400" b="1" dirty="0">
                <a:latin typeface="Arial Rounded MT Bold" panose="020F0704030504030204" pitchFamily="34" charset="0"/>
                <a:cs typeface="Times New Roman" panose="02020603050405020304" pitchFamily="18" charset="0"/>
              </a:rPr>
              <a:t> 192525182</a:t>
            </a:r>
            <a:endParaRPr lang="en-IN" sz="2400" dirty="0">
              <a:latin typeface="Arial Rounded MT Bold" panose="020F0704030504030204" pitchFamily="34" charset="0"/>
            </a:endParaRPr>
          </a:p>
        </p:txBody>
      </p:sp>
      <p:sp>
        <p:nvSpPr>
          <p:cNvPr id="10" name="TextBox 9">
            <a:extLst>
              <a:ext uri="{FF2B5EF4-FFF2-40B4-BE49-F238E27FC236}">
                <a16:creationId xmlns:a16="http://schemas.microsoft.com/office/drawing/2014/main" id="{A2CB4181-EBF8-9F6A-0FCE-3AD4F00A2146}"/>
              </a:ext>
            </a:extLst>
          </p:cNvPr>
          <p:cNvSpPr txBox="1"/>
          <p:nvPr/>
        </p:nvSpPr>
        <p:spPr>
          <a:xfrm>
            <a:off x="8154737" y="4345394"/>
            <a:ext cx="3182983" cy="1569660"/>
          </a:xfrm>
          <a:prstGeom prst="rect">
            <a:avLst/>
          </a:prstGeom>
          <a:noFill/>
        </p:spPr>
        <p:txBody>
          <a:bodyPr wrap="square">
            <a:spAutoFit/>
          </a:bodyPr>
          <a:lstStyle/>
          <a:p>
            <a:r>
              <a:rPr lang="en-IN" sz="2400" dirty="0">
                <a:latin typeface="Arial Rounded MT Bold" panose="020F0704030504030204" pitchFamily="34" charset="0"/>
              </a:rPr>
              <a:t> </a:t>
            </a:r>
            <a:br>
              <a:rPr lang="en-IN" sz="2400" dirty="0">
                <a:latin typeface="Arial Rounded MT Bold" panose="020F0704030504030204" pitchFamily="34" charset="0"/>
              </a:rPr>
            </a:br>
            <a:r>
              <a:rPr lang="en-IN" sz="2400" dirty="0">
                <a:latin typeface="Arial Rounded MT Bold" panose="020F0704030504030204" pitchFamily="34" charset="0"/>
              </a:rPr>
              <a:t> </a:t>
            </a:r>
            <a:r>
              <a:rPr lang="en-IN" sz="2400" b="1" dirty="0">
                <a:latin typeface="Arial Rounded MT Bold" panose="020F0704030504030204" pitchFamily="34" charset="0"/>
              </a:rPr>
              <a:t>Supervisor</a:t>
            </a:r>
            <a:endParaRPr lang="en-IN" sz="2400" b="1" dirty="0">
              <a:latin typeface="Arial Rounded MT Bold" panose="020F0704030504030204" pitchFamily="34" charset="0"/>
              <a:cs typeface="Times New Roman" panose="02020603050405020304" pitchFamily="18" charset="0"/>
            </a:endParaRPr>
          </a:p>
          <a:p>
            <a:r>
              <a:rPr lang="en-IN" sz="2400" b="1" dirty="0">
                <a:latin typeface="Arial Rounded MT Bold" panose="020F0704030504030204" pitchFamily="34" charset="0"/>
                <a:cs typeface="Times New Roman" panose="02020603050405020304" pitchFamily="18" charset="0"/>
              </a:rPr>
              <a:t> </a:t>
            </a:r>
            <a:r>
              <a:rPr lang="en-IN" sz="2400" b="1" dirty="0" err="1">
                <a:latin typeface="Arial Rounded MT Bold" panose="020F0704030504030204" pitchFamily="34" charset="0"/>
                <a:cs typeface="Times New Roman" panose="02020603050405020304" pitchFamily="18" charset="0"/>
              </a:rPr>
              <a:t>Dr.S.Sundar</a:t>
            </a:r>
            <a:r>
              <a:rPr lang="en-IN" sz="2400" b="1" dirty="0">
                <a:latin typeface="Arial Rounded MT Bold" panose="020F0704030504030204" pitchFamily="34" charset="0"/>
                <a:cs typeface="Times New Roman" panose="02020603050405020304" pitchFamily="18" charset="0"/>
              </a:rPr>
              <a:t> Rajan</a:t>
            </a:r>
          </a:p>
          <a:p>
            <a:r>
              <a:rPr lang="en-IN" sz="2400" b="1" dirty="0">
                <a:latin typeface="Arial Rounded MT Bold" panose="020F0704030504030204" pitchFamily="34" charset="0"/>
                <a:cs typeface="Times New Roman" panose="02020603050405020304" pitchFamily="18" charset="0"/>
              </a:rPr>
              <a:t> Professor</a:t>
            </a:r>
          </a:p>
        </p:txBody>
      </p:sp>
      <p:sp>
        <p:nvSpPr>
          <p:cNvPr id="12" name="TextBox 11">
            <a:extLst>
              <a:ext uri="{FF2B5EF4-FFF2-40B4-BE49-F238E27FC236}">
                <a16:creationId xmlns:a16="http://schemas.microsoft.com/office/drawing/2014/main" id="{66603D08-060B-6F62-3194-86D5A428B0EC}"/>
              </a:ext>
            </a:extLst>
          </p:cNvPr>
          <p:cNvSpPr txBox="1"/>
          <p:nvPr/>
        </p:nvSpPr>
        <p:spPr>
          <a:xfrm>
            <a:off x="1122566" y="2730229"/>
            <a:ext cx="10215154" cy="1200329"/>
          </a:xfrm>
          <a:prstGeom prst="rect">
            <a:avLst/>
          </a:prstGeom>
          <a:noFill/>
        </p:spPr>
        <p:txBody>
          <a:bodyPr wrap="square">
            <a:spAutoFit/>
          </a:bodyPr>
          <a:lstStyle/>
          <a:p>
            <a:pPr algn="ctr"/>
            <a:r>
              <a:rPr lang="en-IN" sz="3600" dirty="0">
                <a:latin typeface="Arial Rounded MT Bold" panose="020F0704030504030204" pitchFamily="34" charset="0"/>
              </a:rPr>
              <a:t>Mobile Operating Systems – Architecture Overview</a:t>
            </a:r>
            <a:endParaRPr lang="en-US" sz="3600" b="1" dirty="0">
              <a:latin typeface="Arial Rounded MT Bold" panose="020F0704030504030204" pitchFamily="34" charset="0"/>
              <a:cs typeface="Times New Roman" panose="02020603050405020304" pitchFamily="18" charset="0"/>
            </a:endParaRPr>
          </a:p>
        </p:txBody>
      </p:sp>
    </p:spTree>
    <p:extLst>
      <p:ext uri="{BB962C8B-B14F-4D97-AF65-F5344CB8AC3E}">
        <p14:creationId xmlns:p14="http://schemas.microsoft.com/office/powerpoint/2010/main" val="3680413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E624A-1D82-9599-C5A9-C512EB6A38C3}"/>
              </a:ext>
            </a:extLst>
          </p:cNvPr>
          <p:cNvSpPr>
            <a:spLocks noGrp="1"/>
          </p:cNvSpPr>
          <p:nvPr>
            <p:ph type="ctrTitle"/>
          </p:nvPr>
        </p:nvSpPr>
        <p:spPr>
          <a:xfrm>
            <a:off x="1016000" y="406400"/>
            <a:ext cx="3742266" cy="885297"/>
          </a:xfrm>
        </p:spPr>
        <p:txBody>
          <a:bodyPr>
            <a:normAutofit/>
          </a:bodyPr>
          <a:lstStyle/>
          <a:p>
            <a:r>
              <a:rPr lang="en-IN" sz="4400" dirty="0">
                <a:latin typeface="Arial Rounded MT Bold" panose="020F0704030504030204" pitchFamily="34" charset="0"/>
              </a:rPr>
              <a:t>Introduction</a:t>
            </a:r>
          </a:p>
        </p:txBody>
      </p:sp>
      <p:sp>
        <p:nvSpPr>
          <p:cNvPr id="5" name="TextBox 4">
            <a:extLst>
              <a:ext uri="{FF2B5EF4-FFF2-40B4-BE49-F238E27FC236}">
                <a16:creationId xmlns:a16="http://schemas.microsoft.com/office/drawing/2014/main" id="{85AF49BA-943D-A78B-7EA1-87DE1AFFA5CB}"/>
              </a:ext>
            </a:extLst>
          </p:cNvPr>
          <p:cNvSpPr txBox="1"/>
          <p:nvPr/>
        </p:nvSpPr>
        <p:spPr>
          <a:xfrm>
            <a:off x="804334" y="1396706"/>
            <a:ext cx="10134600" cy="4764318"/>
          </a:xfrm>
          <a:prstGeom prst="rect">
            <a:avLst/>
          </a:prstGeom>
          <a:noFill/>
        </p:spPr>
        <p:txBody>
          <a:bodyPr wrap="square">
            <a:spAutoFit/>
          </a:bodyPr>
          <a:lstStyle/>
          <a:p>
            <a:pPr>
              <a:lnSpc>
                <a:spcPct val="150000"/>
              </a:lnSpc>
            </a:pPr>
            <a:r>
              <a:rPr lang="en-IN" sz="2400" b="1" dirty="0">
                <a:latin typeface="Bell MT" panose="02020503060305020303" pitchFamily="18" charset="0"/>
              </a:rPr>
              <a:t>What is a Mobile Operating System?</a:t>
            </a:r>
          </a:p>
          <a:p>
            <a:pPr marL="285750" indent="-285750">
              <a:lnSpc>
                <a:spcPct val="150000"/>
              </a:lnSpc>
              <a:buFont typeface="Wingdings" panose="05000000000000000000" pitchFamily="2" charset="2"/>
              <a:buChar char="Ø"/>
            </a:pPr>
            <a:r>
              <a:rPr lang="en-IN" dirty="0">
                <a:latin typeface="Bell MT" panose="02020503060305020303" pitchFamily="18" charset="0"/>
              </a:rPr>
              <a:t>A Mobile Operating System (Mobile OS) is system software that manages the hardware and software resources of smartphones, tablets, and wearable devices. It provides an interface between users, applications, and device hardware.</a:t>
            </a:r>
          </a:p>
          <a:p>
            <a:pPr>
              <a:lnSpc>
                <a:spcPct val="150000"/>
              </a:lnSpc>
            </a:pPr>
            <a:endParaRPr lang="en-IN" b="1" dirty="0">
              <a:latin typeface="Bell MT" panose="02020503060305020303" pitchFamily="18" charset="0"/>
            </a:endParaRPr>
          </a:p>
          <a:p>
            <a:pPr>
              <a:lnSpc>
                <a:spcPct val="150000"/>
              </a:lnSpc>
            </a:pPr>
            <a:r>
              <a:rPr lang="en-IN" b="1" dirty="0">
                <a:latin typeface="Bell MT" panose="02020503060305020303" pitchFamily="18" charset="0"/>
              </a:rPr>
              <a:t> Examples</a:t>
            </a:r>
          </a:p>
          <a:p>
            <a:pPr marL="285750" indent="-285750">
              <a:lnSpc>
                <a:spcPct val="150000"/>
              </a:lnSpc>
              <a:buFont typeface="Wingdings" panose="05000000000000000000" pitchFamily="2" charset="2"/>
              <a:buChar char="Ø"/>
            </a:pPr>
            <a:r>
              <a:rPr lang="en-IN" dirty="0">
                <a:latin typeface="Bell MT" panose="02020503060305020303" pitchFamily="18" charset="0"/>
              </a:rPr>
              <a:t>Android </a:t>
            </a:r>
          </a:p>
          <a:p>
            <a:pPr marL="285750" indent="-285750">
              <a:lnSpc>
                <a:spcPct val="150000"/>
              </a:lnSpc>
              <a:buFont typeface="Wingdings" panose="05000000000000000000" pitchFamily="2" charset="2"/>
              <a:buChar char="Ø"/>
            </a:pPr>
            <a:r>
              <a:rPr lang="en-IN" dirty="0">
                <a:latin typeface="Bell MT" panose="02020503060305020303" pitchFamily="18" charset="0"/>
              </a:rPr>
              <a:t>iOS </a:t>
            </a:r>
          </a:p>
          <a:p>
            <a:pPr marL="285750" indent="-285750">
              <a:lnSpc>
                <a:spcPct val="150000"/>
              </a:lnSpc>
              <a:buFont typeface="Wingdings" panose="05000000000000000000" pitchFamily="2" charset="2"/>
              <a:buChar char="Ø"/>
            </a:pPr>
            <a:r>
              <a:rPr lang="en-IN" dirty="0">
                <a:latin typeface="Bell MT" panose="02020503060305020303" pitchFamily="18" charset="0"/>
              </a:rPr>
              <a:t>windows</a:t>
            </a:r>
          </a:p>
          <a:p>
            <a:pPr marL="285750" indent="-285750">
              <a:lnSpc>
                <a:spcPct val="150000"/>
              </a:lnSpc>
              <a:buFont typeface="Wingdings" panose="05000000000000000000" pitchFamily="2" charset="2"/>
              <a:buChar char="Ø"/>
            </a:pPr>
            <a:r>
              <a:rPr lang="en-IN" dirty="0">
                <a:latin typeface="Bell MT" panose="02020503060305020303" pitchFamily="18" charset="0"/>
              </a:rPr>
              <a:t>HarmonyOS </a:t>
            </a:r>
          </a:p>
          <a:p>
            <a:pPr marL="285750" indent="-285750">
              <a:lnSpc>
                <a:spcPct val="150000"/>
              </a:lnSpc>
              <a:buFont typeface="Wingdings" panose="05000000000000000000" pitchFamily="2" charset="2"/>
              <a:buChar char="Ø"/>
            </a:pPr>
            <a:r>
              <a:rPr lang="en-IN" dirty="0" err="1">
                <a:latin typeface="Bell MT" panose="02020503060305020303" pitchFamily="18" charset="0"/>
              </a:rPr>
              <a:t>KaiOS</a:t>
            </a:r>
            <a:endParaRPr lang="en-IN" dirty="0">
              <a:latin typeface="Bell MT" panose="02020503060305020303" pitchFamily="18" charset="0"/>
            </a:endParaRPr>
          </a:p>
        </p:txBody>
      </p:sp>
      <p:pic>
        <p:nvPicPr>
          <p:cNvPr id="6" name="Picture 5" descr="Mobile operating system | PPTX">
            <a:extLst>
              <a:ext uri="{FF2B5EF4-FFF2-40B4-BE49-F238E27FC236}">
                <a16:creationId xmlns:a16="http://schemas.microsoft.com/office/drawing/2014/main" id="{21A3C163-5CF2-1566-BE8E-50C36DD1992C}"/>
              </a:ext>
            </a:extLst>
          </p:cNvPr>
          <p:cNvPicPr>
            <a:picLocks noChangeAspect="1"/>
          </p:cNvPicPr>
          <p:nvPr/>
        </p:nvPicPr>
        <p:blipFill>
          <a:blip r:embed="rId2"/>
          <a:stretch>
            <a:fillRect/>
          </a:stretch>
        </p:blipFill>
        <p:spPr>
          <a:xfrm>
            <a:off x="7137401" y="3429000"/>
            <a:ext cx="3538008" cy="2661824"/>
          </a:xfrm>
          <a:prstGeom prst="roundRect">
            <a:avLst>
              <a:gd name="adj" fmla="val 8594"/>
            </a:avLst>
          </a:prstGeom>
          <a:solidFill>
            <a:srgbClr val="FFFFFF">
              <a:shade val="85000"/>
            </a:srgbClr>
          </a:solidFill>
          <a:ln>
            <a:solidFill>
              <a:srgbClr val="FF0000"/>
            </a:solidFill>
          </a:ln>
          <a:effectLst>
            <a:reflection blurRad="12700" stA="38000" endPos="28000" dist="5000" dir="5400000" sy="-100000" algn="bl" rotWithShape="0"/>
          </a:effectLst>
        </p:spPr>
      </p:pic>
    </p:spTree>
    <p:extLst>
      <p:ext uri="{BB962C8B-B14F-4D97-AF65-F5344CB8AC3E}">
        <p14:creationId xmlns:p14="http://schemas.microsoft.com/office/powerpoint/2010/main" val="3927003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DD56A-3B08-3A39-48D8-01C4ACAEBD05}"/>
              </a:ext>
            </a:extLst>
          </p:cNvPr>
          <p:cNvSpPr>
            <a:spLocks noGrp="1"/>
          </p:cNvSpPr>
          <p:nvPr>
            <p:ph type="title"/>
          </p:nvPr>
        </p:nvSpPr>
        <p:spPr/>
        <p:txBody>
          <a:bodyPr>
            <a:normAutofit/>
          </a:bodyPr>
          <a:lstStyle/>
          <a:p>
            <a:r>
              <a:rPr lang="en-IN" sz="3600" b="1" dirty="0">
                <a:latin typeface="Arial Rounded MT Bold" panose="020F0704030504030204" pitchFamily="34" charset="0"/>
              </a:rPr>
              <a:t>Features of Mobile Operating Systems</a:t>
            </a:r>
            <a:br>
              <a:rPr lang="en-IN" sz="3600" b="1" dirty="0">
                <a:latin typeface="Arial Rounded MT Bold" panose="020F0704030504030204" pitchFamily="34" charset="0"/>
              </a:rPr>
            </a:br>
            <a:endParaRPr lang="en-IN" sz="3600"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1DF77ACF-6A68-F01A-EDAE-EDC57B3D777D}"/>
              </a:ext>
            </a:extLst>
          </p:cNvPr>
          <p:cNvSpPr>
            <a:spLocks noGrp="1"/>
          </p:cNvSpPr>
          <p:nvPr>
            <p:ph idx="1"/>
          </p:nvPr>
        </p:nvSpPr>
        <p:spPr>
          <a:xfrm>
            <a:off x="838200" y="809228"/>
            <a:ext cx="10515600" cy="5239544"/>
          </a:xfrm>
        </p:spPr>
        <p:txBody>
          <a:bodyPr>
            <a:noAutofit/>
          </a:bodyPr>
          <a:lstStyle/>
          <a:p>
            <a:pPr>
              <a:lnSpc>
                <a:spcPct val="170000"/>
              </a:lnSpc>
              <a:buFont typeface="Wingdings" panose="05000000000000000000" pitchFamily="2" charset="2"/>
              <a:buChar char="Ø"/>
            </a:pPr>
            <a:endParaRPr lang="en-IN" sz="1800" b="1" dirty="0">
              <a:latin typeface="Bell MT" panose="02020503060305020303" pitchFamily="18" charset="0"/>
            </a:endParaRPr>
          </a:p>
          <a:p>
            <a:pPr>
              <a:lnSpc>
                <a:spcPct val="170000"/>
              </a:lnSpc>
              <a:buFont typeface="Wingdings" panose="05000000000000000000" pitchFamily="2" charset="2"/>
              <a:buChar char="Ø"/>
            </a:pPr>
            <a:r>
              <a:rPr lang="en-IN" sz="1800" dirty="0">
                <a:latin typeface="Bell MT" panose="02020503060305020303" pitchFamily="18" charset="0"/>
              </a:rPr>
              <a:t>Touchscreen support </a:t>
            </a:r>
          </a:p>
          <a:p>
            <a:pPr>
              <a:lnSpc>
                <a:spcPct val="170000"/>
              </a:lnSpc>
              <a:buFont typeface="Wingdings" panose="05000000000000000000" pitchFamily="2" charset="2"/>
              <a:buChar char="Ø"/>
            </a:pPr>
            <a:r>
              <a:rPr lang="en-IN" sz="1800" dirty="0">
                <a:latin typeface="Bell MT" panose="02020503060305020303" pitchFamily="18" charset="0"/>
              </a:rPr>
              <a:t>Multitasking </a:t>
            </a:r>
          </a:p>
          <a:p>
            <a:pPr>
              <a:lnSpc>
                <a:spcPct val="170000"/>
              </a:lnSpc>
              <a:buFont typeface="Wingdings" panose="05000000000000000000" pitchFamily="2" charset="2"/>
              <a:buChar char="Ø"/>
            </a:pPr>
            <a:r>
              <a:rPr lang="en-IN" sz="1800" dirty="0">
                <a:latin typeface="Bell MT" panose="02020503060305020303" pitchFamily="18" charset="0"/>
              </a:rPr>
              <a:t>Application management </a:t>
            </a:r>
          </a:p>
          <a:p>
            <a:pPr>
              <a:lnSpc>
                <a:spcPct val="170000"/>
              </a:lnSpc>
              <a:buFont typeface="Wingdings" panose="05000000000000000000" pitchFamily="2" charset="2"/>
              <a:buChar char="Ø"/>
            </a:pPr>
            <a:r>
              <a:rPr lang="en-IN" sz="1800" dirty="0">
                <a:latin typeface="Bell MT" panose="02020503060305020303" pitchFamily="18" charset="0"/>
              </a:rPr>
              <a:t>Internet connectivity </a:t>
            </a:r>
          </a:p>
          <a:p>
            <a:pPr>
              <a:lnSpc>
                <a:spcPct val="170000"/>
              </a:lnSpc>
              <a:buFont typeface="Wingdings" panose="05000000000000000000" pitchFamily="2" charset="2"/>
              <a:buChar char="Ø"/>
            </a:pPr>
            <a:r>
              <a:rPr lang="en-IN" sz="1800" dirty="0">
                <a:latin typeface="Bell MT" panose="02020503060305020303" pitchFamily="18" charset="0"/>
              </a:rPr>
              <a:t>Security and privacy </a:t>
            </a:r>
          </a:p>
          <a:p>
            <a:pPr>
              <a:lnSpc>
                <a:spcPct val="170000"/>
              </a:lnSpc>
              <a:buFont typeface="Wingdings" panose="05000000000000000000" pitchFamily="2" charset="2"/>
              <a:buChar char="Ø"/>
            </a:pPr>
            <a:r>
              <a:rPr lang="en-IN" sz="1800" dirty="0">
                <a:latin typeface="Bell MT" panose="02020503060305020303" pitchFamily="18" charset="0"/>
              </a:rPr>
              <a:t>Power management </a:t>
            </a:r>
          </a:p>
          <a:p>
            <a:pPr>
              <a:lnSpc>
                <a:spcPct val="170000"/>
              </a:lnSpc>
              <a:buFont typeface="Wingdings" panose="05000000000000000000" pitchFamily="2" charset="2"/>
              <a:buChar char="Ø"/>
            </a:pPr>
            <a:r>
              <a:rPr lang="en-IN" sz="1800" dirty="0">
                <a:latin typeface="Bell MT" panose="02020503060305020303" pitchFamily="18" charset="0"/>
              </a:rPr>
              <a:t>Multimedia support </a:t>
            </a:r>
          </a:p>
          <a:p>
            <a:pPr>
              <a:lnSpc>
                <a:spcPct val="170000"/>
              </a:lnSpc>
              <a:buFont typeface="Wingdings" panose="05000000000000000000" pitchFamily="2" charset="2"/>
              <a:buChar char="Ø"/>
            </a:pPr>
            <a:r>
              <a:rPr lang="en-IN" sz="1800" dirty="0">
                <a:latin typeface="Bell MT" panose="02020503060305020303" pitchFamily="18" charset="0"/>
              </a:rPr>
              <a:t>GPS and location services</a:t>
            </a:r>
          </a:p>
          <a:p>
            <a:pPr>
              <a:lnSpc>
                <a:spcPct val="170000"/>
              </a:lnSpc>
              <a:buFont typeface="Wingdings" panose="05000000000000000000" pitchFamily="2" charset="2"/>
              <a:buChar char="Ø"/>
            </a:pPr>
            <a:endParaRPr lang="en-IN" sz="1800" dirty="0">
              <a:latin typeface="Bell MT" panose="02020503060305020303" pitchFamily="18" charset="0"/>
            </a:endParaRPr>
          </a:p>
        </p:txBody>
      </p:sp>
      <p:pic>
        <p:nvPicPr>
          <p:cNvPr id="4" name="Picture 3" descr="Mobile operating system Images - Free Download on Magnific (formerly  Freepik)">
            <a:extLst>
              <a:ext uri="{FF2B5EF4-FFF2-40B4-BE49-F238E27FC236}">
                <a16:creationId xmlns:a16="http://schemas.microsoft.com/office/drawing/2014/main" id="{0EA483E6-A189-D864-98FD-90B2D2AADA53}"/>
              </a:ext>
            </a:extLst>
          </p:cNvPr>
          <p:cNvPicPr>
            <a:picLocks noChangeAspect="1"/>
          </p:cNvPicPr>
          <p:nvPr/>
        </p:nvPicPr>
        <p:blipFill>
          <a:blip r:embed="rId2"/>
          <a:stretch>
            <a:fillRect/>
          </a:stretch>
        </p:blipFill>
        <p:spPr>
          <a:xfrm>
            <a:off x="6194556" y="1591733"/>
            <a:ext cx="4008305" cy="4008305"/>
          </a:xfrm>
          <a:prstGeom prst="rect">
            <a:avLst/>
          </a:prstGeom>
        </p:spPr>
      </p:pic>
    </p:spTree>
    <p:extLst>
      <p:ext uri="{BB962C8B-B14F-4D97-AF65-F5344CB8AC3E}">
        <p14:creationId xmlns:p14="http://schemas.microsoft.com/office/powerpoint/2010/main" val="3557753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7228E-C074-0BEC-8ABE-28B5B1E7BD20}"/>
              </a:ext>
            </a:extLst>
          </p:cNvPr>
          <p:cNvSpPr>
            <a:spLocks noGrp="1"/>
          </p:cNvSpPr>
          <p:nvPr>
            <p:ph type="title"/>
          </p:nvPr>
        </p:nvSpPr>
        <p:spPr/>
        <p:txBody>
          <a:bodyPr>
            <a:normAutofit/>
          </a:bodyPr>
          <a:lstStyle/>
          <a:p>
            <a:r>
              <a:rPr lang="en-IN" sz="3600" dirty="0">
                <a:latin typeface="Arial Rounded MT Bold" panose="020F0704030504030204" pitchFamily="34" charset="0"/>
              </a:rPr>
              <a:t>Mobile OS Architecture</a:t>
            </a:r>
          </a:p>
        </p:txBody>
      </p:sp>
      <p:sp>
        <p:nvSpPr>
          <p:cNvPr id="5" name="TextBox 4">
            <a:extLst>
              <a:ext uri="{FF2B5EF4-FFF2-40B4-BE49-F238E27FC236}">
                <a16:creationId xmlns:a16="http://schemas.microsoft.com/office/drawing/2014/main" id="{1D822CD1-54A8-2B94-06BB-2AA7B380D66C}"/>
              </a:ext>
            </a:extLst>
          </p:cNvPr>
          <p:cNvSpPr txBox="1"/>
          <p:nvPr/>
        </p:nvSpPr>
        <p:spPr>
          <a:xfrm>
            <a:off x="702734" y="1627890"/>
            <a:ext cx="4842934" cy="4524315"/>
          </a:xfrm>
          <a:prstGeom prst="rect">
            <a:avLst/>
          </a:prstGeom>
          <a:noFill/>
        </p:spPr>
        <p:txBody>
          <a:bodyPr wrap="square">
            <a:spAutoFit/>
          </a:bodyPr>
          <a:lstStyle/>
          <a:p>
            <a:r>
              <a:rPr lang="en-IN" dirty="0">
                <a:latin typeface="Bell MT" panose="02020503060305020303" pitchFamily="18" charset="0"/>
              </a:rPr>
              <a:t>                       Applications</a:t>
            </a:r>
          </a:p>
          <a:p>
            <a:r>
              <a:rPr lang="en-IN" dirty="0">
                <a:latin typeface="Bell MT" panose="02020503060305020303" pitchFamily="18" charset="0"/>
              </a:rPr>
              <a:t>                              │</a:t>
            </a:r>
          </a:p>
          <a:p>
            <a:r>
              <a:rPr lang="en-IN" dirty="0">
                <a:latin typeface="Bell MT" panose="02020503060305020303" pitchFamily="18" charset="0"/>
              </a:rPr>
              <a:t>                              ▼</a:t>
            </a:r>
          </a:p>
          <a:p>
            <a:r>
              <a:rPr lang="en-IN" dirty="0">
                <a:latin typeface="Bell MT" panose="02020503060305020303" pitchFamily="18" charset="0"/>
              </a:rPr>
              <a:t>              Application Framework</a:t>
            </a:r>
          </a:p>
          <a:p>
            <a:r>
              <a:rPr lang="en-IN" dirty="0">
                <a:latin typeface="Bell MT" panose="02020503060305020303" pitchFamily="18" charset="0"/>
              </a:rPr>
              <a:t>                             │</a:t>
            </a:r>
          </a:p>
          <a:p>
            <a:r>
              <a:rPr lang="en-IN" dirty="0">
                <a:latin typeface="Bell MT" panose="02020503060305020303" pitchFamily="18" charset="0"/>
              </a:rPr>
              <a:t>                             ▼</a:t>
            </a:r>
          </a:p>
          <a:p>
            <a:r>
              <a:rPr lang="en-IN" dirty="0">
                <a:latin typeface="Bell MT" panose="02020503060305020303" pitchFamily="18" charset="0"/>
              </a:rPr>
              <a:t>              Runtime Environment</a:t>
            </a:r>
          </a:p>
          <a:p>
            <a:r>
              <a:rPr lang="en-IN" dirty="0">
                <a:latin typeface="Bell MT" panose="02020503060305020303" pitchFamily="18" charset="0"/>
              </a:rPr>
              <a:t>                             │</a:t>
            </a:r>
          </a:p>
          <a:p>
            <a:r>
              <a:rPr lang="en-IN" dirty="0">
                <a:latin typeface="Bell MT" panose="02020503060305020303" pitchFamily="18" charset="0"/>
              </a:rPr>
              <a:t>                             ▼</a:t>
            </a:r>
          </a:p>
          <a:p>
            <a:r>
              <a:rPr lang="en-IN" dirty="0">
                <a:latin typeface="Bell MT" panose="02020503060305020303" pitchFamily="18" charset="0"/>
              </a:rPr>
              <a:t>                 Native Libraries</a:t>
            </a:r>
          </a:p>
          <a:p>
            <a:r>
              <a:rPr lang="en-IN" dirty="0">
                <a:latin typeface="Bell MT" panose="02020503060305020303" pitchFamily="18" charset="0"/>
              </a:rPr>
              <a:t>                            │</a:t>
            </a:r>
          </a:p>
          <a:p>
            <a:r>
              <a:rPr lang="en-IN" dirty="0">
                <a:latin typeface="Bell MT" panose="02020503060305020303" pitchFamily="18" charset="0"/>
              </a:rPr>
              <a:t>                            ▼</a:t>
            </a:r>
          </a:p>
          <a:p>
            <a:r>
              <a:rPr lang="en-IN" dirty="0">
                <a:latin typeface="Bell MT" panose="02020503060305020303" pitchFamily="18" charset="0"/>
              </a:rPr>
              <a:t>                 Linux Kernel</a:t>
            </a:r>
          </a:p>
          <a:p>
            <a:r>
              <a:rPr lang="en-IN" dirty="0">
                <a:latin typeface="Bell MT" panose="02020503060305020303" pitchFamily="18" charset="0"/>
              </a:rPr>
              <a:t>                           │</a:t>
            </a:r>
          </a:p>
          <a:p>
            <a:r>
              <a:rPr lang="en-IN" dirty="0">
                <a:latin typeface="Bell MT" panose="02020503060305020303" pitchFamily="18" charset="0"/>
              </a:rPr>
              <a:t>                           ▼</a:t>
            </a:r>
          </a:p>
          <a:p>
            <a:r>
              <a:rPr lang="en-IN" dirty="0">
                <a:latin typeface="Bell MT" panose="02020503060305020303" pitchFamily="18" charset="0"/>
              </a:rPr>
              <a:t>                    Hardware</a:t>
            </a:r>
          </a:p>
        </p:txBody>
      </p:sp>
      <p:sp>
        <p:nvSpPr>
          <p:cNvPr id="7" name="TextBox 6">
            <a:extLst>
              <a:ext uri="{FF2B5EF4-FFF2-40B4-BE49-F238E27FC236}">
                <a16:creationId xmlns:a16="http://schemas.microsoft.com/office/drawing/2014/main" id="{F311A638-6813-E281-0FDD-1BB7B79E5897}"/>
              </a:ext>
            </a:extLst>
          </p:cNvPr>
          <p:cNvSpPr txBox="1"/>
          <p:nvPr/>
        </p:nvSpPr>
        <p:spPr>
          <a:xfrm>
            <a:off x="5655734" y="2268096"/>
            <a:ext cx="6096000" cy="3243901"/>
          </a:xfrm>
          <a:prstGeom prst="rect">
            <a:avLst/>
          </a:prstGeom>
          <a:noFill/>
        </p:spPr>
        <p:txBody>
          <a:bodyPr wrap="square">
            <a:spAutoFit/>
          </a:bodyPr>
          <a:lstStyle/>
          <a:p>
            <a:pPr>
              <a:buNone/>
            </a:pPr>
            <a:r>
              <a:rPr lang="en-IN" sz="2800" b="1" dirty="0">
                <a:latin typeface="Arial Rounded MT Bold" panose="020F0704030504030204" pitchFamily="34" charset="0"/>
              </a:rPr>
              <a:t>Explanation:</a:t>
            </a:r>
            <a:endParaRPr lang="en-IN" sz="2800" dirty="0">
              <a:latin typeface="Arial Rounded MT Bold" panose="020F0704030504030204" pitchFamily="34" charset="0"/>
            </a:endParaRPr>
          </a:p>
          <a:p>
            <a:pPr>
              <a:lnSpc>
                <a:spcPct val="150000"/>
              </a:lnSpc>
              <a:buFont typeface="Arial" panose="020B0604020202020204" pitchFamily="34" charset="0"/>
              <a:buChar char="•"/>
            </a:pPr>
            <a:r>
              <a:rPr lang="en-IN" sz="2400" dirty="0">
                <a:latin typeface="Bell MT" panose="02020503060305020303" pitchFamily="18" charset="0"/>
              </a:rPr>
              <a:t>Applications interact with users. </a:t>
            </a:r>
          </a:p>
          <a:p>
            <a:pPr>
              <a:lnSpc>
                <a:spcPct val="150000"/>
              </a:lnSpc>
              <a:buFont typeface="Arial" panose="020B0604020202020204" pitchFamily="34" charset="0"/>
              <a:buChar char="•"/>
            </a:pPr>
            <a:r>
              <a:rPr lang="en-IN" sz="2400" dirty="0">
                <a:latin typeface="Bell MT" panose="02020503060305020303" pitchFamily="18" charset="0"/>
              </a:rPr>
              <a:t>Framework provides APIs. </a:t>
            </a:r>
          </a:p>
          <a:p>
            <a:pPr>
              <a:lnSpc>
                <a:spcPct val="150000"/>
              </a:lnSpc>
              <a:buFont typeface="Arial" panose="020B0604020202020204" pitchFamily="34" charset="0"/>
              <a:buChar char="•"/>
            </a:pPr>
            <a:r>
              <a:rPr lang="en-IN" sz="2400" dirty="0">
                <a:latin typeface="Bell MT" panose="02020503060305020303" pitchFamily="18" charset="0"/>
              </a:rPr>
              <a:t>Runtime executes applications. </a:t>
            </a:r>
          </a:p>
          <a:p>
            <a:pPr>
              <a:lnSpc>
                <a:spcPct val="150000"/>
              </a:lnSpc>
              <a:buFont typeface="Arial" panose="020B0604020202020204" pitchFamily="34" charset="0"/>
              <a:buChar char="•"/>
            </a:pPr>
            <a:r>
              <a:rPr lang="en-IN" sz="2400" dirty="0">
                <a:latin typeface="Bell MT" panose="02020503060305020303" pitchFamily="18" charset="0"/>
              </a:rPr>
              <a:t>Libraries provide system functions. </a:t>
            </a:r>
          </a:p>
          <a:p>
            <a:pPr>
              <a:lnSpc>
                <a:spcPct val="150000"/>
              </a:lnSpc>
              <a:buFont typeface="Arial" panose="020B0604020202020204" pitchFamily="34" charset="0"/>
              <a:buChar char="•"/>
            </a:pPr>
            <a:r>
              <a:rPr lang="en-IN" sz="2400" dirty="0">
                <a:latin typeface="Bell MT" panose="02020503060305020303" pitchFamily="18" charset="0"/>
              </a:rPr>
              <a:t>Kernel manages hardware resources.</a:t>
            </a:r>
          </a:p>
        </p:txBody>
      </p:sp>
    </p:spTree>
    <p:extLst>
      <p:ext uri="{BB962C8B-B14F-4D97-AF65-F5344CB8AC3E}">
        <p14:creationId xmlns:p14="http://schemas.microsoft.com/office/powerpoint/2010/main" val="961536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34E94-D712-5367-8528-8A346533BF69}"/>
              </a:ext>
            </a:extLst>
          </p:cNvPr>
          <p:cNvSpPr>
            <a:spLocks noGrp="1"/>
          </p:cNvSpPr>
          <p:nvPr>
            <p:ph type="title"/>
          </p:nvPr>
        </p:nvSpPr>
        <p:spPr/>
        <p:txBody>
          <a:bodyPr>
            <a:normAutofit/>
          </a:bodyPr>
          <a:lstStyle/>
          <a:p>
            <a:r>
              <a:rPr lang="en-IN" sz="3200" b="1" dirty="0">
                <a:latin typeface="Arial Rounded MT Bold" panose="020F0704030504030204" pitchFamily="34" charset="0"/>
              </a:rPr>
              <a:t>Android Architecture Components definition</a:t>
            </a:r>
            <a:br>
              <a:rPr lang="en-IN" sz="3200" b="1" dirty="0">
                <a:latin typeface="Arial Rounded MT Bold" panose="020F0704030504030204" pitchFamily="34" charset="0"/>
              </a:rPr>
            </a:br>
            <a:endParaRPr lang="en-IN" sz="3200" dirty="0">
              <a:latin typeface="Arial Rounded MT Bold" panose="020F0704030504030204" pitchFamily="34" charset="0"/>
            </a:endParaRPr>
          </a:p>
        </p:txBody>
      </p:sp>
      <p:graphicFrame>
        <p:nvGraphicFramePr>
          <p:cNvPr id="8" name="Table 7">
            <a:extLst>
              <a:ext uri="{FF2B5EF4-FFF2-40B4-BE49-F238E27FC236}">
                <a16:creationId xmlns:a16="http://schemas.microsoft.com/office/drawing/2014/main" id="{CEC44BA8-1530-174F-6D0C-871C8FE3A8B1}"/>
              </a:ext>
            </a:extLst>
          </p:cNvPr>
          <p:cNvGraphicFramePr>
            <a:graphicFrameLocks noGrp="1"/>
          </p:cNvGraphicFramePr>
          <p:nvPr>
            <p:extLst>
              <p:ext uri="{D42A27DB-BD31-4B8C-83A1-F6EECF244321}">
                <p14:modId xmlns:p14="http://schemas.microsoft.com/office/powerpoint/2010/main" val="3161565253"/>
              </p:ext>
            </p:extLst>
          </p:nvPr>
        </p:nvGraphicFramePr>
        <p:xfrm>
          <a:off x="601133" y="1251320"/>
          <a:ext cx="10515600" cy="5355275"/>
        </p:xfrm>
        <a:graphic>
          <a:graphicData uri="http://schemas.openxmlformats.org/drawingml/2006/table">
            <a:tbl>
              <a:tblPr/>
              <a:tblGrid>
                <a:gridCol w="5257800">
                  <a:extLst>
                    <a:ext uri="{9D8B030D-6E8A-4147-A177-3AD203B41FA5}">
                      <a16:colId xmlns:a16="http://schemas.microsoft.com/office/drawing/2014/main" val="1769515974"/>
                    </a:ext>
                  </a:extLst>
                </a:gridCol>
                <a:gridCol w="5257800">
                  <a:extLst>
                    <a:ext uri="{9D8B030D-6E8A-4147-A177-3AD203B41FA5}">
                      <a16:colId xmlns:a16="http://schemas.microsoft.com/office/drawing/2014/main" val="2603086366"/>
                    </a:ext>
                  </a:extLst>
                </a:gridCol>
              </a:tblGrid>
              <a:tr h="0">
                <a:tc>
                  <a:txBody>
                    <a:bodyPr/>
                    <a:lstStyle/>
                    <a:p>
                      <a:pPr>
                        <a:lnSpc>
                          <a:spcPct val="150000"/>
                        </a:lnSpc>
                        <a:buNone/>
                      </a:pPr>
                      <a:r>
                        <a:rPr lang="en-IN" sz="2400" b="1" dirty="0">
                          <a:latin typeface="Arial Rounded MT Bold" panose="020F0704030504030204" pitchFamily="34" charset="0"/>
                        </a:rPr>
                        <a:t>Android Component</a:t>
                      </a:r>
                      <a:endParaRPr lang="en-IN" sz="2400" dirty="0">
                        <a:latin typeface="Arial Rounded MT Bold" panose="020F07040305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nSpc>
                          <a:spcPct val="150000"/>
                        </a:lnSpc>
                        <a:buNone/>
                      </a:pPr>
                      <a:r>
                        <a:rPr lang="en-IN" sz="2400" b="1" dirty="0">
                          <a:latin typeface="Arial Rounded MT Bold" panose="020F0704030504030204" pitchFamily="34" charset="0"/>
                        </a:rPr>
                        <a:t>One-Line Definition</a:t>
                      </a:r>
                      <a:endParaRPr lang="en-IN" sz="2400" dirty="0">
                        <a:latin typeface="Arial Rounded MT Bold" panose="020F07040305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505806337"/>
                  </a:ext>
                </a:extLst>
              </a:tr>
              <a:tr h="0">
                <a:tc>
                  <a:txBody>
                    <a:bodyPr/>
                    <a:lstStyle/>
                    <a:p>
                      <a:pPr>
                        <a:lnSpc>
                          <a:spcPct val="150000"/>
                        </a:lnSpc>
                        <a:buNone/>
                      </a:pPr>
                      <a:r>
                        <a:rPr lang="en-IN" b="1" dirty="0"/>
                        <a:t>Applications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nSpc>
                          <a:spcPct val="150000"/>
                        </a:lnSpc>
                        <a:buNone/>
                      </a:pPr>
                      <a:r>
                        <a:rPr lang="en-IN"/>
                        <a:t>The top layer that contains user applications such as WhatsApp, Chrome, and Gmail.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44806994"/>
                  </a:ext>
                </a:extLst>
              </a:tr>
              <a:tr h="0">
                <a:tc>
                  <a:txBody>
                    <a:bodyPr/>
                    <a:lstStyle/>
                    <a:p>
                      <a:pPr>
                        <a:lnSpc>
                          <a:spcPct val="150000"/>
                        </a:lnSpc>
                        <a:buNone/>
                      </a:pPr>
                      <a:r>
                        <a:rPr lang="en-IN" b="1"/>
                        <a:t>Application Framework</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nSpc>
                          <a:spcPct val="150000"/>
                        </a:lnSpc>
                        <a:buNone/>
                      </a:pPr>
                      <a:r>
                        <a:rPr lang="en-IN"/>
                        <a:t>Provides APIs and system services that help developers build Android applications.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816403984"/>
                  </a:ext>
                </a:extLst>
              </a:tr>
              <a:tr h="0">
                <a:tc>
                  <a:txBody>
                    <a:bodyPr/>
                    <a:lstStyle/>
                    <a:p>
                      <a:pPr>
                        <a:lnSpc>
                          <a:spcPct val="150000"/>
                        </a:lnSpc>
                        <a:buNone/>
                      </a:pPr>
                      <a:r>
                        <a:rPr lang="en-IN" b="1"/>
                        <a:t>Android Runtime (ART)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nSpc>
                          <a:spcPct val="150000"/>
                        </a:lnSpc>
                        <a:buNone/>
                      </a:pPr>
                      <a:r>
                        <a:rPr lang="en-IN"/>
                        <a:t>Executes Android applications and manages memory for efficient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576187867"/>
                  </a:ext>
                </a:extLst>
              </a:tr>
              <a:tr h="0">
                <a:tc>
                  <a:txBody>
                    <a:bodyPr/>
                    <a:lstStyle/>
                    <a:p>
                      <a:pPr>
                        <a:lnSpc>
                          <a:spcPct val="150000"/>
                        </a:lnSpc>
                        <a:buNone/>
                      </a:pPr>
                      <a:r>
                        <a:rPr lang="en-IN" b="1"/>
                        <a:t>Native Libraries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nSpc>
                          <a:spcPct val="150000"/>
                        </a:lnSpc>
                        <a:buNone/>
                      </a:pPr>
                      <a:r>
                        <a:rPr lang="en-IN"/>
                        <a:t>A collection of C/C++ libraries that provide core functions like graphics, media, and database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46275034"/>
                  </a:ext>
                </a:extLst>
              </a:tr>
              <a:tr h="0">
                <a:tc>
                  <a:txBody>
                    <a:bodyPr/>
                    <a:lstStyle/>
                    <a:p>
                      <a:pPr>
                        <a:lnSpc>
                          <a:spcPct val="150000"/>
                        </a:lnSpc>
                        <a:buNone/>
                      </a:pPr>
                      <a:r>
                        <a:rPr lang="en-IN" b="1"/>
                        <a:t>Linux Kernel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nSpc>
                          <a:spcPct val="150000"/>
                        </a:lnSpc>
                        <a:buNone/>
                      </a:pPr>
                      <a:r>
                        <a:rPr lang="en-IN" dirty="0"/>
                        <a:t>The core layer that manages hardware, memory, processes, security, and device drivers.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413444453"/>
                  </a:ext>
                </a:extLst>
              </a:tr>
            </a:tbl>
          </a:graphicData>
        </a:graphic>
      </p:graphicFrame>
    </p:spTree>
    <p:extLst>
      <p:ext uri="{BB962C8B-B14F-4D97-AF65-F5344CB8AC3E}">
        <p14:creationId xmlns:p14="http://schemas.microsoft.com/office/powerpoint/2010/main" val="2162311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AAA96-0464-7D7C-981E-4955A4138893}"/>
              </a:ext>
            </a:extLst>
          </p:cNvPr>
          <p:cNvSpPr>
            <a:spLocks noGrp="1"/>
          </p:cNvSpPr>
          <p:nvPr>
            <p:ph type="title"/>
          </p:nvPr>
        </p:nvSpPr>
        <p:spPr/>
        <p:txBody>
          <a:bodyPr/>
          <a:lstStyle/>
          <a:p>
            <a:r>
              <a:rPr lang="en-IN" b="1" dirty="0">
                <a:latin typeface="Arial Rounded MT Bold" panose="020F0704030504030204" pitchFamily="34" charset="0"/>
              </a:rPr>
              <a:t>Process Management</a:t>
            </a:r>
            <a:br>
              <a:rPr lang="en-IN" b="1" dirty="0">
                <a:latin typeface="Arial Rounded MT Bold" panose="020F0704030504030204" pitchFamily="34" charset="0"/>
              </a:rPr>
            </a:br>
            <a:endParaRPr lang="en-IN"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6056D85E-5659-F0DE-8CC6-57B92D35C799}"/>
              </a:ext>
            </a:extLst>
          </p:cNvPr>
          <p:cNvSpPr>
            <a:spLocks noGrp="1"/>
          </p:cNvSpPr>
          <p:nvPr>
            <p:ph idx="1"/>
          </p:nvPr>
        </p:nvSpPr>
        <p:spPr>
          <a:xfrm>
            <a:off x="702734" y="592667"/>
            <a:ext cx="10515600" cy="5900207"/>
          </a:xfrm>
        </p:spPr>
        <p:txBody>
          <a:bodyPr>
            <a:noAutofit/>
          </a:bodyPr>
          <a:lstStyle/>
          <a:p>
            <a:pPr>
              <a:lnSpc>
                <a:spcPct val="160000"/>
              </a:lnSpc>
              <a:buFont typeface="Wingdings" panose="05000000000000000000" pitchFamily="2" charset="2"/>
              <a:buChar char="Ø"/>
            </a:pPr>
            <a:endParaRPr lang="en-IN" sz="1800" b="1" dirty="0">
              <a:latin typeface="Bell MT" panose="02020503060305020303" pitchFamily="18" charset="0"/>
            </a:endParaRPr>
          </a:p>
          <a:p>
            <a:pPr marL="0" indent="0">
              <a:lnSpc>
                <a:spcPct val="160000"/>
              </a:lnSpc>
              <a:buNone/>
            </a:pPr>
            <a:r>
              <a:rPr lang="en-IN" sz="2400" b="1" dirty="0">
                <a:latin typeface="Arial Rounded MT Bold" panose="020F0704030504030204" pitchFamily="34" charset="0"/>
              </a:rPr>
              <a:t>Responsibilities</a:t>
            </a:r>
          </a:p>
          <a:p>
            <a:pPr>
              <a:lnSpc>
                <a:spcPct val="160000"/>
              </a:lnSpc>
              <a:buFont typeface="Wingdings" panose="05000000000000000000" pitchFamily="2" charset="2"/>
              <a:buChar char="Ø"/>
            </a:pPr>
            <a:r>
              <a:rPr lang="en-IN" sz="1800" dirty="0">
                <a:latin typeface="Bell MT" panose="02020503060305020303" pitchFamily="18" charset="0"/>
              </a:rPr>
              <a:t>Process Creation </a:t>
            </a:r>
          </a:p>
          <a:p>
            <a:pPr>
              <a:lnSpc>
                <a:spcPct val="160000"/>
              </a:lnSpc>
              <a:buFont typeface="Wingdings" panose="05000000000000000000" pitchFamily="2" charset="2"/>
              <a:buChar char="Ø"/>
            </a:pPr>
            <a:r>
              <a:rPr lang="en-IN" sz="1800" dirty="0">
                <a:latin typeface="Bell MT" panose="02020503060305020303" pitchFamily="18" charset="0"/>
              </a:rPr>
              <a:t>Scheduling </a:t>
            </a:r>
          </a:p>
          <a:p>
            <a:pPr>
              <a:lnSpc>
                <a:spcPct val="160000"/>
              </a:lnSpc>
              <a:buFont typeface="Wingdings" panose="05000000000000000000" pitchFamily="2" charset="2"/>
              <a:buChar char="Ø"/>
            </a:pPr>
            <a:r>
              <a:rPr lang="en-IN" sz="1800" dirty="0">
                <a:latin typeface="Bell MT" panose="02020503060305020303" pitchFamily="18" charset="0"/>
              </a:rPr>
              <a:t>Multitasking </a:t>
            </a:r>
          </a:p>
          <a:p>
            <a:pPr>
              <a:lnSpc>
                <a:spcPct val="160000"/>
              </a:lnSpc>
              <a:buFont typeface="Wingdings" panose="05000000000000000000" pitchFamily="2" charset="2"/>
              <a:buChar char="Ø"/>
            </a:pPr>
            <a:r>
              <a:rPr lang="en-IN" sz="1800" dirty="0">
                <a:latin typeface="Bell MT" panose="02020503060305020303" pitchFamily="18" charset="0"/>
              </a:rPr>
              <a:t>Background Services </a:t>
            </a:r>
          </a:p>
          <a:p>
            <a:pPr>
              <a:lnSpc>
                <a:spcPct val="160000"/>
              </a:lnSpc>
              <a:buFont typeface="Wingdings" panose="05000000000000000000" pitchFamily="2" charset="2"/>
              <a:buChar char="Ø"/>
            </a:pPr>
            <a:r>
              <a:rPr lang="en-IN" sz="1800" dirty="0">
                <a:latin typeface="Bell MT" panose="02020503060305020303" pitchFamily="18" charset="0"/>
              </a:rPr>
              <a:t>Process Termination </a:t>
            </a:r>
          </a:p>
          <a:p>
            <a:pPr>
              <a:lnSpc>
                <a:spcPct val="160000"/>
              </a:lnSpc>
              <a:buFont typeface="Wingdings" panose="05000000000000000000" pitchFamily="2" charset="2"/>
              <a:buChar char="Ø"/>
            </a:pPr>
            <a:r>
              <a:rPr lang="en-IN" sz="2400" b="1" dirty="0">
                <a:latin typeface="Arial Rounded MT Bold" panose="020F0704030504030204" pitchFamily="34" charset="0"/>
              </a:rPr>
              <a:t>Example</a:t>
            </a:r>
          </a:p>
          <a:p>
            <a:pPr>
              <a:lnSpc>
                <a:spcPct val="160000"/>
              </a:lnSpc>
              <a:buFont typeface="Wingdings" panose="05000000000000000000" pitchFamily="2" charset="2"/>
              <a:buChar char="Ø"/>
            </a:pPr>
            <a:r>
              <a:rPr lang="en-IN" sz="1800" dirty="0">
                <a:latin typeface="Bell MT" panose="02020503060305020303" pitchFamily="18" charset="0"/>
              </a:rPr>
              <a:t>When switching from WhatsApp to Chrome, the OS saves the WhatsApp process and allocates CPU resources to Chrome.</a:t>
            </a:r>
          </a:p>
          <a:p>
            <a:pPr>
              <a:lnSpc>
                <a:spcPct val="160000"/>
              </a:lnSpc>
              <a:buFont typeface="Wingdings" panose="05000000000000000000" pitchFamily="2" charset="2"/>
              <a:buChar char="Ø"/>
            </a:pPr>
            <a:endParaRPr lang="en-IN" sz="1800" dirty="0">
              <a:latin typeface="Bell MT" panose="02020503060305020303" pitchFamily="18" charset="0"/>
            </a:endParaRPr>
          </a:p>
        </p:txBody>
      </p:sp>
      <p:pic>
        <p:nvPicPr>
          <p:cNvPr id="4" name="Picture 3" descr="https://images.openai.com/static-rsc-4/-rUZvGBsq3fk7V6doxAs0Wo2xCX76p_glyfIFRpmE2ZbUeS7l2VbA0dil4YD465FmCaZfyefYSlGBrBwxknn5Y277nAhxxD4Oe4eerD6Ct-chrtE7iIOM5WD1O0OtSBUYPwkAzxFgqLz-DI6vIqKNe9itzFTEnu8iGsQLa9fwe6laBcdg-RQ1IJNWXQ4HUdv?purpose=fullsize">
            <a:extLst>
              <a:ext uri="{FF2B5EF4-FFF2-40B4-BE49-F238E27FC236}">
                <a16:creationId xmlns:a16="http://schemas.microsoft.com/office/drawing/2014/main" id="{27EACF22-F8F5-3A41-E210-339E27E6C70C}"/>
              </a:ext>
            </a:extLst>
          </p:cNvPr>
          <p:cNvPicPr>
            <a:picLocks noChangeAspect="1"/>
          </p:cNvPicPr>
          <p:nvPr/>
        </p:nvPicPr>
        <p:blipFill>
          <a:blip r:embed="rId2"/>
          <a:stretch>
            <a:fillRect/>
          </a:stretch>
        </p:blipFill>
        <p:spPr>
          <a:xfrm>
            <a:off x="5159072" y="1312333"/>
            <a:ext cx="2314123" cy="3528483"/>
          </a:xfrm>
          <a:prstGeom prst="roundRect">
            <a:avLst>
              <a:gd name="adj" fmla="val 4167"/>
            </a:avLst>
          </a:prstGeom>
          <a:solidFill>
            <a:srgbClr val="FFFFFF"/>
          </a:solidFill>
          <a:ln w="76200" cap="sq">
            <a:solidFill>
              <a:srgbClr val="00B0F0"/>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5" name="Picture 4" descr="https://images.openai.com/static-rsc-4/YFI5mp-lCvIF2pnBQp3GLIfHL8uOdHGgeH7tdWoDOco8I81oIqCxwRQmZbwLOTPkj4xRL_mfmIyooi64_ATaVPnB4EylF-FqNBBF4YRznLSg0Jk3PcDSd-vgf0ZtI4D9ph4pHT1WJC_-SiT8KQJw6Uferojh8xObMAS5iLsMQG4m4Fg7cQ1SHPCk2xsykd5g?purpose=fullsize">
            <a:extLst>
              <a:ext uri="{FF2B5EF4-FFF2-40B4-BE49-F238E27FC236}">
                <a16:creationId xmlns:a16="http://schemas.microsoft.com/office/drawing/2014/main" id="{F44565E4-6789-4A06-BBC6-0114FA5B8C18}"/>
              </a:ext>
            </a:extLst>
          </p:cNvPr>
          <p:cNvPicPr>
            <a:picLocks noChangeAspect="1"/>
          </p:cNvPicPr>
          <p:nvPr/>
        </p:nvPicPr>
        <p:blipFill>
          <a:blip r:embed="rId3"/>
          <a:stretch>
            <a:fillRect/>
          </a:stretch>
        </p:blipFill>
        <p:spPr>
          <a:xfrm>
            <a:off x="7741103" y="1312333"/>
            <a:ext cx="3748163" cy="3528483"/>
          </a:xfrm>
          <a:prstGeom prst="rect">
            <a:avLst/>
          </a:prstGeom>
          <a:ln w="38100" cap="sq">
            <a:solidFill>
              <a:srgbClr val="FFC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39990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DBC5-4EC7-6365-B45F-8CDD25C9A5BA}"/>
              </a:ext>
            </a:extLst>
          </p:cNvPr>
          <p:cNvSpPr>
            <a:spLocks noGrp="1"/>
          </p:cNvSpPr>
          <p:nvPr>
            <p:ph type="title"/>
          </p:nvPr>
        </p:nvSpPr>
        <p:spPr>
          <a:xfrm>
            <a:off x="520700" y="573880"/>
            <a:ext cx="10515600" cy="465667"/>
          </a:xfrm>
        </p:spPr>
        <p:txBody>
          <a:bodyPr>
            <a:normAutofit fontScale="90000"/>
          </a:bodyPr>
          <a:lstStyle/>
          <a:p>
            <a:r>
              <a:rPr lang="en-IN" sz="3600" b="1" dirty="0">
                <a:latin typeface="Arial Rounded MT Bold" panose="020F0704030504030204" pitchFamily="34" charset="0"/>
              </a:rPr>
              <a:t>Memory Management</a:t>
            </a:r>
            <a:br>
              <a:rPr lang="en-IN" sz="3600" b="1" dirty="0">
                <a:latin typeface="Arial Rounded MT Bold" panose="020F0704030504030204" pitchFamily="34" charset="0"/>
              </a:rPr>
            </a:br>
            <a:endParaRPr lang="en-IN" sz="3600"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76283D3A-D432-45ED-692E-72EBA128107E}"/>
              </a:ext>
            </a:extLst>
          </p:cNvPr>
          <p:cNvSpPr>
            <a:spLocks noGrp="1"/>
          </p:cNvSpPr>
          <p:nvPr>
            <p:ph idx="1"/>
          </p:nvPr>
        </p:nvSpPr>
        <p:spPr>
          <a:xfrm>
            <a:off x="630767" y="194733"/>
            <a:ext cx="10405533" cy="5882482"/>
          </a:xfrm>
        </p:spPr>
        <p:txBody>
          <a:bodyPr>
            <a:noAutofit/>
          </a:bodyPr>
          <a:lstStyle/>
          <a:p>
            <a:pPr>
              <a:lnSpc>
                <a:spcPct val="150000"/>
              </a:lnSpc>
              <a:buFont typeface="Wingdings" panose="05000000000000000000" pitchFamily="2" charset="2"/>
              <a:buChar char="Ø"/>
            </a:pPr>
            <a:endParaRPr lang="en-IN" sz="2400" b="1" dirty="0">
              <a:latin typeface="Bell MT" panose="02020503060305020303" pitchFamily="18" charset="0"/>
            </a:endParaRPr>
          </a:p>
          <a:p>
            <a:pPr marL="0" indent="0">
              <a:lnSpc>
                <a:spcPct val="150000"/>
              </a:lnSpc>
              <a:buNone/>
            </a:pPr>
            <a:r>
              <a:rPr lang="en-IN" dirty="0">
                <a:latin typeface="Arial Rounded MT Bold" panose="020F0704030504030204" pitchFamily="34" charset="0"/>
              </a:rPr>
              <a:t>Functions</a:t>
            </a:r>
          </a:p>
          <a:p>
            <a:pPr>
              <a:lnSpc>
                <a:spcPct val="150000"/>
              </a:lnSpc>
              <a:buFont typeface="Wingdings" panose="05000000000000000000" pitchFamily="2" charset="2"/>
              <a:buChar char="Ø"/>
            </a:pPr>
            <a:r>
              <a:rPr lang="en-IN" sz="2000" dirty="0">
                <a:latin typeface="Bell MT" panose="02020503060305020303" pitchFamily="18" charset="0"/>
              </a:rPr>
              <a:t>RAM Allocation </a:t>
            </a:r>
          </a:p>
          <a:p>
            <a:pPr>
              <a:lnSpc>
                <a:spcPct val="150000"/>
              </a:lnSpc>
              <a:buFont typeface="Wingdings" panose="05000000000000000000" pitchFamily="2" charset="2"/>
              <a:buChar char="Ø"/>
            </a:pPr>
            <a:r>
              <a:rPr lang="en-IN" sz="2000" dirty="0">
                <a:latin typeface="Bell MT" panose="02020503060305020303" pitchFamily="18" charset="0"/>
              </a:rPr>
              <a:t>Virtual Memory </a:t>
            </a:r>
          </a:p>
          <a:p>
            <a:pPr>
              <a:lnSpc>
                <a:spcPct val="150000"/>
              </a:lnSpc>
              <a:buFont typeface="Wingdings" panose="05000000000000000000" pitchFamily="2" charset="2"/>
              <a:buChar char="Ø"/>
            </a:pPr>
            <a:r>
              <a:rPr lang="en-IN" sz="2000" dirty="0">
                <a:latin typeface="Bell MT" panose="02020503060305020303" pitchFamily="18" charset="0"/>
              </a:rPr>
              <a:t>Garbage Collection </a:t>
            </a:r>
          </a:p>
          <a:p>
            <a:pPr>
              <a:lnSpc>
                <a:spcPct val="150000"/>
              </a:lnSpc>
              <a:buFont typeface="Wingdings" panose="05000000000000000000" pitchFamily="2" charset="2"/>
              <a:buChar char="Ø"/>
            </a:pPr>
            <a:r>
              <a:rPr lang="en-IN" sz="2000" dirty="0">
                <a:latin typeface="Bell MT" panose="02020503060305020303" pitchFamily="18" charset="0"/>
              </a:rPr>
              <a:t>Cache Management</a:t>
            </a:r>
          </a:p>
          <a:p>
            <a:pPr>
              <a:lnSpc>
                <a:spcPct val="150000"/>
              </a:lnSpc>
              <a:buFont typeface="Wingdings" panose="05000000000000000000" pitchFamily="2" charset="2"/>
              <a:buChar char="Ø"/>
            </a:pPr>
            <a:r>
              <a:rPr lang="en-IN" dirty="0">
                <a:latin typeface="Arial Rounded MT Bold" panose="020F0704030504030204" pitchFamily="34" charset="0"/>
              </a:rPr>
              <a:t>Benefits</a:t>
            </a:r>
          </a:p>
          <a:p>
            <a:pPr>
              <a:lnSpc>
                <a:spcPct val="150000"/>
              </a:lnSpc>
              <a:buFont typeface="Wingdings" panose="05000000000000000000" pitchFamily="2" charset="2"/>
              <a:buChar char="Ø"/>
            </a:pPr>
            <a:r>
              <a:rPr lang="en-IN" sz="2000" dirty="0">
                <a:latin typeface="Bell MT" panose="02020503060305020303" pitchFamily="18" charset="0"/>
              </a:rPr>
              <a:t>Faster Performance </a:t>
            </a:r>
          </a:p>
          <a:p>
            <a:pPr>
              <a:lnSpc>
                <a:spcPct val="150000"/>
              </a:lnSpc>
              <a:buFont typeface="Wingdings" panose="05000000000000000000" pitchFamily="2" charset="2"/>
              <a:buChar char="Ø"/>
            </a:pPr>
            <a:r>
              <a:rPr lang="en-IN" sz="2000" dirty="0">
                <a:latin typeface="Bell MT" panose="02020503060305020303" pitchFamily="18" charset="0"/>
              </a:rPr>
              <a:t>Efficient Resource Usage </a:t>
            </a:r>
          </a:p>
          <a:p>
            <a:pPr>
              <a:lnSpc>
                <a:spcPct val="150000"/>
              </a:lnSpc>
              <a:buFont typeface="Wingdings" panose="05000000000000000000" pitchFamily="2" charset="2"/>
              <a:buChar char="Ø"/>
            </a:pPr>
            <a:r>
              <a:rPr lang="en-IN" sz="2000" dirty="0">
                <a:latin typeface="Bell MT" panose="02020503060305020303" pitchFamily="18" charset="0"/>
              </a:rPr>
              <a:t>Reduced Crashes</a:t>
            </a:r>
          </a:p>
          <a:p>
            <a:pPr>
              <a:lnSpc>
                <a:spcPct val="150000"/>
              </a:lnSpc>
              <a:buFont typeface="Wingdings" panose="05000000000000000000" pitchFamily="2" charset="2"/>
              <a:buChar char="Ø"/>
            </a:pPr>
            <a:endParaRPr lang="en-IN" sz="2000" dirty="0">
              <a:latin typeface="Bell MT" panose="02020503060305020303" pitchFamily="18" charset="0"/>
            </a:endParaRPr>
          </a:p>
        </p:txBody>
      </p:sp>
      <p:pic>
        <p:nvPicPr>
          <p:cNvPr id="6" name="Picture 5">
            <a:extLst>
              <a:ext uri="{FF2B5EF4-FFF2-40B4-BE49-F238E27FC236}">
                <a16:creationId xmlns:a16="http://schemas.microsoft.com/office/drawing/2014/main" id="{DC0AB934-DBF9-288C-A693-F74ECCDC9221}"/>
              </a:ext>
            </a:extLst>
          </p:cNvPr>
          <p:cNvPicPr>
            <a:picLocks noChangeAspect="1"/>
          </p:cNvPicPr>
          <p:nvPr/>
        </p:nvPicPr>
        <p:blipFill>
          <a:blip r:embed="rId2"/>
          <a:stretch>
            <a:fillRect/>
          </a:stretch>
        </p:blipFill>
        <p:spPr>
          <a:xfrm>
            <a:off x="6375400" y="1192305"/>
            <a:ext cx="3664577" cy="4884910"/>
          </a:xfrm>
          <a:prstGeom prst="roundRect">
            <a:avLst>
              <a:gd name="adj" fmla="val 4167"/>
            </a:avLst>
          </a:prstGeom>
          <a:solidFill>
            <a:srgbClr val="FFFFFF"/>
          </a:solidFill>
          <a:ln w="76200" cap="sq">
            <a:solidFill>
              <a:srgbClr val="92D050"/>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739992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058C5C-F4F8-D250-6658-C6ECF34E973D}"/>
              </a:ext>
            </a:extLst>
          </p:cNvPr>
          <p:cNvSpPr txBox="1"/>
          <p:nvPr/>
        </p:nvSpPr>
        <p:spPr>
          <a:xfrm>
            <a:off x="745067" y="1346539"/>
            <a:ext cx="6096000" cy="3252044"/>
          </a:xfrm>
          <a:prstGeom prst="rect">
            <a:avLst/>
          </a:prstGeom>
          <a:noFill/>
        </p:spPr>
        <p:txBody>
          <a:bodyPr wrap="square">
            <a:spAutoFit/>
          </a:bodyPr>
          <a:lstStyle/>
          <a:p>
            <a:pPr>
              <a:buNone/>
            </a:pPr>
            <a:r>
              <a:rPr lang="en-IN" sz="2800" b="1" dirty="0">
                <a:latin typeface="Arial Rounded MT Bold" panose="020F0704030504030204" pitchFamily="34" charset="0"/>
              </a:rPr>
              <a:t>Security Features</a:t>
            </a:r>
          </a:p>
          <a:p>
            <a:pPr marL="342900" indent="-342900">
              <a:lnSpc>
                <a:spcPct val="150000"/>
              </a:lnSpc>
              <a:buFont typeface="Wingdings" panose="05000000000000000000" pitchFamily="2" charset="2"/>
              <a:buChar char="Ø"/>
            </a:pPr>
            <a:r>
              <a:rPr lang="en-IN" sz="2000" dirty="0">
                <a:latin typeface="Bell MT" panose="02020503060305020303" pitchFamily="18" charset="0"/>
              </a:rPr>
              <a:t>User Authentication </a:t>
            </a:r>
          </a:p>
          <a:p>
            <a:pPr marL="342900" indent="-342900">
              <a:lnSpc>
                <a:spcPct val="150000"/>
              </a:lnSpc>
              <a:buFont typeface="Wingdings" panose="05000000000000000000" pitchFamily="2" charset="2"/>
              <a:buChar char="Ø"/>
            </a:pPr>
            <a:r>
              <a:rPr lang="en-IN" sz="2000" dirty="0">
                <a:latin typeface="Bell MT" panose="02020503060305020303" pitchFamily="18" charset="0"/>
              </a:rPr>
              <a:t>Application Sandbox </a:t>
            </a:r>
          </a:p>
          <a:p>
            <a:pPr marL="342900" indent="-342900">
              <a:lnSpc>
                <a:spcPct val="150000"/>
              </a:lnSpc>
              <a:buFont typeface="Wingdings" panose="05000000000000000000" pitchFamily="2" charset="2"/>
              <a:buChar char="Ø"/>
            </a:pPr>
            <a:r>
              <a:rPr lang="en-IN" sz="2000" dirty="0">
                <a:latin typeface="Bell MT" panose="02020503060305020303" pitchFamily="18" charset="0"/>
              </a:rPr>
              <a:t>Data Encryption </a:t>
            </a:r>
          </a:p>
          <a:p>
            <a:pPr marL="342900" indent="-342900">
              <a:lnSpc>
                <a:spcPct val="150000"/>
              </a:lnSpc>
              <a:buFont typeface="Wingdings" panose="05000000000000000000" pitchFamily="2" charset="2"/>
              <a:buChar char="Ø"/>
            </a:pPr>
            <a:r>
              <a:rPr lang="en-IN" sz="2000" dirty="0">
                <a:latin typeface="Bell MT" panose="02020503060305020303" pitchFamily="18" charset="0"/>
              </a:rPr>
              <a:t>Permission Management </a:t>
            </a:r>
          </a:p>
          <a:p>
            <a:pPr marL="342900" indent="-342900">
              <a:lnSpc>
                <a:spcPct val="150000"/>
              </a:lnSpc>
              <a:buFont typeface="Wingdings" panose="05000000000000000000" pitchFamily="2" charset="2"/>
              <a:buChar char="Ø"/>
            </a:pPr>
            <a:r>
              <a:rPr lang="en-IN" sz="2000" dirty="0">
                <a:latin typeface="Bell MT" panose="02020503060305020303" pitchFamily="18" charset="0"/>
              </a:rPr>
              <a:t>Secure Boot </a:t>
            </a:r>
          </a:p>
          <a:p>
            <a:pPr marL="342900" indent="-342900">
              <a:lnSpc>
                <a:spcPct val="150000"/>
              </a:lnSpc>
              <a:buFont typeface="Wingdings" panose="05000000000000000000" pitchFamily="2" charset="2"/>
              <a:buChar char="Ø"/>
            </a:pPr>
            <a:r>
              <a:rPr lang="en-IN" sz="2000" dirty="0">
                <a:latin typeface="Bell MT" panose="02020503060305020303" pitchFamily="18" charset="0"/>
              </a:rPr>
              <a:t>Biometrics (Face ID/Fingerprint)</a:t>
            </a:r>
          </a:p>
        </p:txBody>
      </p:sp>
      <p:sp>
        <p:nvSpPr>
          <p:cNvPr id="7" name="TextBox 6">
            <a:extLst>
              <a:ext uri="{FF2B5EF4-FFF2-40B4-BE49-F238E27FC236}">
                <a16:creationId xmlns:a16="http://schemas.microsoft.com/office/drawing/2014/main" id="{EDB66085-85C3-830D-5A22-48BB2CA116F1}"/>
              </a:ext>
            </a:extLst>
          </p:cNvPr>
          <p:cNvSpPr txBox="1"/>
          <p:nvPr/>
        </p:nvSpPr>
        <p:spPr>
          <a:xfrm>
            <a:off x="6781799" y="1373122"/>
            <a:ext cx="4360334" cy="3252044"/>
          </a:xfrm>
          <a:prstGeom prst="rect">
            <a:avLst/>
          </a:prstGeom>
          <a:noFill/>
        </p:spPr>
        <p:txBody>
          <a:bodyPr wrap="square">
            <a:spAutoFit/>
          </a:bodyPr>
          <a:lstStyle/>
          <a:p>
            <a:pPr>
              <a:buNone/>
            </a:pPr>
            <a:r>
              <a:rPr lang="en-IN" sz="2800" b="1" dirty="0">
                <a:latin typeface="Arial Rounded MT Bold" panose="020F0704030504030204" pitchFamily="34" charset="0"/>
              </a:rPr>
              <a:t>Advantages</a:t>
            </a:r>
          </a:p>
          <a:p>
            <a:pPr>
              <a:lnSpc>
                <a:spcPct val="150000"/>
              </a:lnSpc>
              <a:buFont typeface="Arial" panose="020B0604020202020204" pitchFamily="34" charset="0"/>
              <a:buChar char="•"/>
            </a:pPr>
            <a:r>
              <a:rPr lang="en-IN" sz="2000" dirty="0">
                <a:latin typeface="Bell MT" panose="02020503060305020303" pitchFamily="18" charset="0"/>
              </a:rPr>
              <a:t>User-friendly Interface </a:t>
            </a:r>
          </a:p>
          <a:p>
            <a:pPr>
              <a:lnSpc>
                <a:spcPct val="150000"/>
              </a:lnSpc>
              <a:buFont typeface="Arial" panose="020B0604020202020204" pitchFamily="34" charset="0"/>
              <a:buChar char="•"/>
            </a:pPr>
            <a:r>
              <a:rPr lang="en-IN" sz="2000" dirty="0">
                <a:latin typeface="Bell MT" panose="02020503060305020303" pitchFamily="18" charset="0"/>
              </a:rPr>
              <a:t>Efficient Resource Management </a:t>
            </a:r>
          </a:p>
          <a:p>
            <a:pPr>
              <a:lnSpc>
                <a:spcPct val="150000"/>
              </a:lnSpc>
              <a:buFont typeface="Arial" panose="020B0604020202020204" pitchFamily="34" charset="0"/>
              <a:buChar char="•"/>
            </a:pPr>
            <a:r>
              <a:rPr lang="en-IN" sz="2000" dirty="0">
                <a:latin typeface="Bell MT" panose="02020503060305020303" pitchFamily="18" charset="0"/>
              </a:rPr>
              <a:t>Better Security </a:t>
            </a:r>
          </a:p>
          <a:p>
            <a:pPr>
              <a:lnSpc>
                <a:spcPct val="150000"/>
              </a:lnSpc>
              <a:buFont typeface="Arial" panose="020B0604020202020204" pitchFamily="34" charset="0"/>
              <a:buChar char="•"/>
            </a:pPr>
            <a:r>
              <a:rPr lang="en-IN" sz="2000" dirty="0">
                <a:latin typeface="Bell MT" panose="02020503060305020303" pitchFamily="18" charset="0"/>
              </a:rPr>
              <a:t>Power Optimization </a:t>
            </a:r>
          </a:p>
          <a:p>
            <a:pPr>
              <a:lnSpc>
                <a:spcPct val="150000"/>
              </a:lnSpc>
              <a:buFont typeface="Arial" panose="020B0604020202020204" pitchFamily="34" charset="0"/>
              <a:buChar char="•"/>
            </a:pPr>
            <a:r>
              <a:rPr lang="en-IN" sz="2000" dirty="0">
                <a:latin typeface="Bell MT" panose="02020503060305020303" pitchFamily="18" charset="0"/>
              </a:rPr>
              <a:t>Supports Millions of Applications </a:t>
            </a:r>
          </a:p>
          <a:p>
            <a:pPr>
              <a:lnSpc>
                <a:spcPct val="150000"/>
              </a:lnSpc>
              <a:buFont typeface="Arial" panose="020B0604020202020204" pitchFamily="34" charset="0"/>
              <a:buChar char="•"/>
            </a:pPr>
            <a:r>
              <a:rPr lang="en-IN" sz="2000" dirty="0">
                <a:latin typeface="Bell MT" panose="02020503060305020303" pitchFamily="18" charset="0"/>
              </a:rPr>
              <a:t>High Performance</a:t>
            </a:r>
          </a:p>
        </p:txBody>
      </p:sp>
    </p:spTree>
    <p:extLst>
      <p:ext uri="{BB962C8B-B14F-4D97-AF65-F5344CB8AC3E}">
        <p14:creationId xmlns:p14="http://schemas.microsoft.com/office/powerpoint/2010/main" val="793274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46848-80FA-5724-35E4-A6767234E37E}"/>
              </a:ext>
            </a:extLst>
          </p:cNvPr>
          <p:cNvSpPr>
            <a:spLocks noGrp="1"/>
          </p:cNvSpPr>
          <p:nvPr>
            <p:ph type="title"/>
          </p:nvPr>
        </p:nvSpPr>
        <p:spPr>
          <a:xfrm>
            <a:off x="414867" y="390525"/>
            <a:ext cx="10515600" cy="1325563"/>
          </a:xfrm>
        </p:spPr>
        <p:txBody>
          <a:bodyPr>
            <a:normAutofit/>
          </a:bodyPr>
          <a:lstStyle/>
          <a:p>
            <a:r>
              <a:rPr lang="en-IN" sz="2800" dirty="0">
                <a:latin typeface="Arial Rounded MT Bold" panose="020F0704030504030204" pitchFamily="34" charset="0"/>
              </a:rPr>
              <a:t>Difference between operating systems and android</a:t>
            </a:r>
          </a:p>
        </p:txBody>
      </p:sp>
      <p:graphicFrame>
        <p:nvGraphicFramePr>
          <p:cNvPr id="4" name="Content Placeholder 3">
            <a:extLst>
              <a:ext uri="{FF2B5EF4-FFF2-40B4-BE49-F238E27FC236}">
                <a16:creationId xmlns:a16="http://schemas.microsoft.com/office/drawing/2014/main" id="{20798702-1571-1D2E-C937-F5415DD42CC4}"/>
              </a:ext>
            </a:extLst>
          </p:cNvPr>
          <p:cNvGraphicFramePr>
            <a:graphicFrameLocks noGrp="1"/>
          </p:cNvGraphicFramePr>
          <p:nvPr>
            <p:ph idx="1"/>
            <p:extLst>
              <p:ext uri="{D42A27DB-BD31-4B8C-83A1-F6EECF244321}">
                <p14:modId xmlns:p14="http://schemas.microsoft.com/office/powerpoint/2010/main" val="684414934"/>
              </p:ext>
            </p:extLst>
          </p:nvPr>
        </p:nvGraphicFramePr>
        <p:xfrm>
          <a:off x="677333" y="1869387"/>
          <a:ext cx="10515600" cy="4504503"/>
        </p:xfrm>
        <a:graphic>
          <a:graphicData uri="http://schemas.openxmlformats.org/drawingml/2006/table">
            <a:tbl>
              <a:tblPr/>
              <a:tblGrid>
                <a:gridCol w="5257800">
                  <a:extLst>
                    <a:ext uri="{9D8B030D-6E8A-4147-A177-3AD203B41FA5}">
                      <a16:colId xmlns:a16="http://schemas.microsoft.com/office/drawing/2014/main" val="2348050603"/>
                    </a:ext>
                  </a:extLst>
                </a:gridCol>
                <a:gridCol w="5257800">
                  <a:extLst>
                    <a:ext uri="{9D8B030D-6E8A-4147-A177-3AD203B41FA5}">
                      <a16:colId xmlns:a16="http://schemas.microsoft.com/office/drawing/2014/main" val="3701301139"/>
                    </a:ext>
                  </a:extLst>
                </a:gridCol>
              </a:tblGrid>
              <a:tr h="0">
                <a:tc>
                  <a:txBody>
                    <a:bodyPr/>
                    <a:lstStyle/>
                    <a:p>
                      <a:pPr>
                        <a:lnSpc>
                          <a:spcPct val="150000"/>
                        </a:lnSpc>
                        <a:buNone/>
                      </a:pPr>
                      <a:r>
                        <a:rPr lang="en-IN" sz="2000" b="1" dirty="0">
                          <a:latin typeface="Arial Rounded MT Bold" panose="020F0704030504030204" pitchFamily="34" charset="0"/>
                        </a:rPr>
                        <a:t>Operating System (OS)</a:t>
                      </a:r>
                      <a:endParaRPr lang="en-IN" sz="2000" dirty="0">
                        <a:latin typeface="Arial Rounded MT Bold" panose="020F07040305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nSpc>
                          <a:spcPct val="150000"/>
                        </a:lnSpc>
                        <a:buNone/>
                      </a:pPr>
                      <a:r>
                        <a:rPr lang="en-IN" sz="2000" b="1" dirty="0">
                          <a:latin typeface="Arial Rounded MT Bold" panose="020F0704030504030204" pitchFamily="34" charset="0"/>
                        </a:rPr>
                        <a:t>Android</a:t>
                      </a:r>
                      <a:endParaRPr lang="en-IN" sz="2000" dirty="0">
                        <a:latin typeface="Arial Rounded MT Bold" panose="020F07040305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82619548"/>
                  </a:ext>
                </a:extLst>
              </a:tr>
              <a:tr h="0">
                <a:tc>
                  <a:txBody>
                    <a:bodyPr/>
                    <a:lstStyle/>
                    <a:p>
                      <a:pPr>
                        <a:lnSpc>
                          <a:spcPct val="150000"/>
                        </a:lnSpc>
                        <a:buNone/>
                      </a:pPr>
                      <a:r>
                        <a:rPr lang="en-IN" dirty="0"/>
                        <a:t>A general software that manages computer or device hardware and software.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nSpc>
                          <a:spcPct val="150000"/>
                        </a:lnSpc>
                        <a:buNone/>
                      </a:pPr>
                      <a:r>
                        <a:rPr lang="en-IN"/>
                        <a:t>A specific </a:t>
                      </a:r>
                      <a:r>
                        <a:rPr lang="en-IN" b="1"/>
                        <a:t>mobile operating system</a:t>
                      </a:r>
                      <a:r>
                        <a:rPr lang="en-IN"/>
                        <a:t> developed by Google.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5475350"/>
                  </a:ext>
                </a:extLst>
              </a:tr>
              <a:tr h="0">
                <a:tc>
                  <a:txBody>
                    <a:bodyPr/>
                    <a:lstStyle/>
                    <a:p>
                      <a:pPr>
                        <a:lnSpc>
                          <a:spcPct val="150000"/>
                        </a:lnSpc>
                        <a:buNone/>
                      </a:pPr>
                      <a:r>
                        <a:rPr lang="en-IN"/>
                        <a:t>Used on computers, laptops, servers, phones, and embedded devices.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nSpc>
                          <a:spcPct val="150000"/>
                        </a:lnSpc>
                        <a:buNone/>
                      </a:pPr>
                      <a:r>
                        <a:rPr lang="en-IN"/>
                        <a:t>Mainly used on smartphones, tablets, TVs, and smartwatches.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2949342"/>
                  </a:ext>
                </a:extLst>
              </a:tr>
              <a:tr h="0">
                <a:tc>
                  <a:txBody>
                    <a:bodyPr/>
                    <a:lstStyle/>
                    <a:p>
                      <a:pPr>
                        <a:lnSpc>
                          <a:spcPct val="150000"/>
                        </a:lnSpc>
                        <a:buNone/>
                      </a:pPr>
                      <a:r>
                        <a:rPr lang="en-IN" dirty="0"/>
                        <a:t>Examples: Windows, Linux, macOS, Android, 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nSpc>
                          <a:spcPct val="150000"/>
                        </a:lnSpc>
                        <a:buNone/>
                      </a:pPr>
                      <a:r>
                        <a:rPr lang="en-IN"/>
                        <a:t>Android is one example of an operating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9340780"/>
                  </a:ext>
                </a:extLst>
              </a:tr>
              <a:tr h="0">
                <a:tc>
                  <a:txBody>
                    <a:bodyPr/>
                    <a:lstStyle/>
                    <a:p>
                      <a:pPr>
                        <a:lnSpc>
                          <a:spcPct val="150000"/>
                        </a:lnSpc>
                        <a:buNone/>
                      </a:pPr>
                      <a:r>
                        <a:rPr lang="en-IN"/>
                        <a:t>Can be desktop or mobile.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nSpc>
                          <a:spcPct val="150000"/>
                        </a:lnSpc>
                        <a:buNone/>
                      </a:pPr>
                      <a:r>
                        <a:rPr lang="en-IN" dirty="0"/>
                        <a:t>Specifically designed for mobile devices.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08993628"/>
                  </a:ext>
                </a:extLst>
              </a:tr>
              <a:tr h="0">
                <a:tc>
                  <a:txBody>
                    <a:bodyPr/>
                    <a:lstStyle/>
                    <a:p>
                      <a:pPr>
                        <a:lnSpc>
                          <a:spcPct val="150000"/>
                        </a:lnSpc>
                        <a:buNone/>
                      </a:pPr>
                      <a:r>
                        <a:rPr lang="en-IN"/>
                        <a:t>May use different kernels depending on the 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nSpc>
                          <a:spcPct val="150000"/>
                        </a:lnSpc>
                        <a:buNone/>
                      </a:pPr>
                      <a:r>
                        <a:rPr lang="en-IN"/>
                        <a:t>Built on the </a:t>
                      </a:r>
                      <a:r>
                        <a:rPr lang="en-IN" b="1"/>
                        <a:t>Linux kernel</a:t>
                      </a: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01707429"/>
                  </a:ext>
                </a:extLst>
              </a:tr>
              <a:tr h="0">
                <a:tc>
                  <a:txBody>
                    <a:bodyPr/>
                    <a:lstStyle/>
                    <a:p>
                      <a:pPr>
                        <a:lnSpc>
                          <a:spcPct val="150000"/>
                        </a:lnSpc>
                        <a:buNone/>
                      </a:pPr>
                      <a:r>
                        <a:rPr lang="en-IN"/>
                        <a:t>Supports various hardware platforms.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nSpc>
                          <a:spcPct val="150000"/>
                        </a:lnSpc>
                        <a:buNone/>
                      </a:pPr>
                      <a:r>
                        <a:rPr lang="en-IN" dirty="0"/>
                        <a:t>Optimized for touchscreens, mobile processors, cameras, GPS,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40539798"/>
                  </a:ext>
                </a:extLst>
              </a:tr>
            </a:tbl>
          </a:graphicData>
        </a:graphic>
      </p:graphicFrame>
    </p:spTree>
    <p:extLst>
      <p:ext uri="{BB962C8B-B14F-4D97-AF65-F5344CB8AC3E}">
        <p14:creationId xmlns:p14="http://schemas.microsoft.com/office/powerpoint/2010/main" val="4984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D9700-45A7-0498-132D-9F40C66D1F25}"/>
              </a:ext>
            </a:extLst>
          </p:cNvPr>
          <p:cNvSpPr>
            <a:spLocks noGrp="1"/>
          </p:cNvSpPr>
          <p:nvPr>
            <p:ph type="title"/>
          </p:nvPr>
        </p:nvSpPr>
        <p:spPr/>
        <p:txBody>
          <a:bodyPr>
            <a:normAutofit/>
          </a:bodyPr>
          <a:lstStyle/>
          <a:p>
            <a:r>
              <a:rPr lang="en-IN" sz="2800" dirty="0" err="1">
                <a:latin typeface="Arial Rounded MT Bold" panose="020F0704030504030204" pitchFamily="34" charset="0"/>
              </a:rPr>
              <a:t>Comparision</a:t>
            </a:r>
            <a:r>
              <a:rPr lang="en-IN" sz="2800" dirty="0">
                <a:latin typeface="Arial Rounded MT Bold" panose="020F0704030504030204" pitchFamily="34" charset="0"/>
              </a:rPr>
              <a:t> of Android vs iOS</a:t>
            </a:r>
          </a:p>
        </p:txBody>
      </p:sp>
      <p:graphicFrame>
        <p:nvGraphicFramePr>
          <p:cNvPr id="4" name="Content Placeholder 3">
            <a:extLst>
              <a:ext uri="{FF2B5EF4-FFF2-40B4-BE49-F238E27FC236}">
                <a16:creationId xmlns:a16="http://schemas.microsoft.com/office/drawing/2014/main" id="{179D8909-8392-F106-8CCE-03F8CE423F8C}"/>
              </a:ext>
            </a:extLst>
          </p:cNvPr>
          <p:cNvGraphicFramePr>
            <a:graphicFrameLocks noGrp="1"/>
          </p:cNvGraphicFramePr>
          <p:nvPr>
            <p:ph idx="1"/>
            <p:extLst>
              <p:ext uri="{D42A27DB-BD31-4B8C-83A1-F6EECF244321}">
                <p14:modId xmlns:p14="http://schemas.microsoft.com/office/powerpoint/2010/main" val="2474595186"/>
              </p:ext>
            </p:extLst>
          </p:nvPr>
        </p:nvGraphicFramePr>
        <p:xfrm>
          <a:off x="838200" y="2023840"/>
          <a:ext cx="10515600" cy="2810320"/>
        </p:xfrm>
        <a:graphic>
          <a:graphicData uri="http://schemas.openxmlformats.org/drawingml/2006/table">
            <a:tbl>
              <a:tblPr/>
              <a:tblGrid>
                <a:gridCol w="3505200">
                  <a:extLst>
                    <a:ext uri="{9D8B030D-6E8A-4147-A177-3AD203B41FA5}">
                      <a16:colId xmlns:a16="http://schemas.microsoft.com/office/drawing/2014/main" val="1038995236"/>
                    </a:ext>
                  </a:extLst>
                </a:gridCol>
                <a:gridCol w="3505200">
                  <a:extLst>
                    <a:ext uri="{9D8B030D-6E8A-4147-A177-3AD203B41FA5}">
                      <a16:colId xmlns:a16="http://schemas.microsoft.com/office/drawing/2014/main" val="3951217320"/>
                    </a:ext>
                  </a:extLst>
                </a:gridCol>
                <a:gridCol w="3505200">
                  <a:extLst>
                    <a:ext uri="{9D8B030D-6E8A-4147-A177-3AD203B41FA5}">
                      <a16:colId xmlns:a16="http://schemas.microsoft.com/office/drawing/2014/main" val="2180814769"/>
                    </a:ext>
                  </a:extLst>
                </a:gridCol>
              </a:tblGrid>
              <a:tr h="0">
                <a:tc>
                  <a:txBody>
                    <a:bodyPr/>
                    <a:lstStyle/>
                    <a:p>
                      <a:pPr>
                        <a:buNone/>
                      </a:pPr>
                      <a:r>
                        <a:rPr lang="en-IN" sz="2800" dirty="0">
                          <a:latin typeface="Arial Rounded MT Bold" panose="020F0704030504030204" pitchFamily="34"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sz="2800" dirty="0">
                          <a:latin typeface="Arial Rounded MT Bold" panose="020F0704030504030204" pitchFamily="34" charset="0"/>
                        </a:rPr>
                        <a:t>Android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sz="2800" dirty="0">
                          <a:latin typeface="Arial Rounded MT Bold" panose="020F0704030504030204" pitchFamily="34" charset="0"/>
                        </a:rPr>
                        <a:t>iOS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452901858"/>
                  </a:ext>
                </a:extLst>
              </a:tr>
              <a:tr h="0">
                <a:tc>
                  <a:txBody>
                    <a:bodyPr/>
                    <a:lstStyle/>
                    <a:p>
                      <a:pPr>
                        <a:buNone/>
                      </a:pPr>
                      <a:r>
                        <a:rPr lang="en-IN"/>
                        <a:t>Kernel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dirty="0"/>
                        <a:t>Linux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a:t>XNU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225244996"/>
                  </a:ext>
                </a:extLst>
              </a:tr>
              <a:tr h="0">
                <a:tc>
                  <a:txBody>
                    <a:bodyPr/>
                    <a:lstStyle/>
                    <a:p>
                      <a:pPr>
                        <a:buNone/>
                      </a:pPr>
                      <a:r>
                        <a:rPr lang="en-IN"/>
                        <a:t>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a:t>Open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a:t>Closed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879302332"/>
                  </a:ext>
                </a:extLst>
              </a:tr>
              <a:tr h="0">
                <a:tc>
                  <a:txBody>
                    <a:bodyPr/>
                    <a:lstStyle/>
                    <a:p>
                      <a:pPr>
                        <a:buNone/>
                      </a:pPr>
                      <a:r>
                        <a:rPr lang="en-IN"/>
                        <a:t>App 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a:t>Google 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a:t>Apple App 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441605630"/>
                  </a:ext>
                </a:extLst>
              </a:tr>
              <a:tr h="0">
                <a:tc>
                  <a:txBody>
                    <a:bodyPr/>
                    <a:lstStyle/>
                    <a:p>
                      <a:pPr>
                        <a:buNone/>
                      </a:pPr>
                      <a:r>
                        <a:rPr lang="en-IN" dirty="0"/>
                        <a:t>Programming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a:t>Java, Kotlin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a:t>Swift, Objective-C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618781464"/>
                  </a:ext>
                </a:extLst>
              </a:tr>
              <a:tr h="0">
                <a:tc>
                  <a:txBody>
                    <a:bodyPr/>
                    <a:lstStyle/>
                    <a:p>
                      <a:pPr>
                        <a:buNone/>
                      </a:pPr>
                      <a:r>
                        <a:rPr lang="en-IN"/>
                        <a:t>Customization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a:t>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984862748"/>
                  </a:ext>
                </a:extLst>
              </a:tr>
              <a:tr h="0">
                <a:tc>
                  <a:txBody>
                    <a:bodyPr/>
                    <a:lstStyle/>
                    <a:p>
                      <a:pPr>
                        <a:buNone/>
                      </a:pPr>
                      <a:r>
                        <a:rPr lang="en-IN"/>
                        <a:t>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buNone/>
                      </a:pPr>
                      <a:r>
                        <a:rPr lang="en-IN"/>
                        <a:t>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pPr>
                        <a:lnSpc>
                          <a:spcPct val="150000"/>
                        </a:lnSpc>
                        <a:buNone/>
                      </a:pPr>
                      <a:r>
                        <a:rPr lang="en-IN" dirty="0"/>
                        <a:t>Very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769153586"/>
                  </a:ext>
                </a:extLst>
              </a:tr>
            </a:tbl>
          </a:graphicData>
        </a:graphic>
      </p:graphicFrame>
    </p:spTree>
    <p:extLst>
      <p:ext uri="{BB962C8B-B14F-4D97-AF65-F5344CB8AC3E}">
        <p14:creationId xmlns:p14="http://schemas.microsoft.com/office/powerpoint/2010/main" val="1958136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C86A-75D7-B5EC-6EE0-F72432869595}"/>
              </a:ext>
            </a:extLst>
          </p:cNvPr>
          <p:cNvSpPr>
            <a:spLocks noGrp="1"/>
          </p:cNvSpPr>
          <p:nvPr>
            <p:ph type="title"/>
          </p:nvPr>
        </p:nvSpPr>
        <p:spPr>
          <a:xfrm>
            <a:off x="931334" y="712258"/>
            <a:ext cx="10515600" cy="1325563"/>
          </a:xfrm>
        </p:spPr>
        <p:txBody>
          <a:bodyPr/>
          <a:lstStyle/>
          <a:p>
            <a:r>
              <a:rPr lang="en-IN" b="1" dirty="0">
                <a:latin typeface="Arial Rounded MT Bold" panose="020F0704030504030204" pitchFamily="34" charset="0"/>
              </a:rPr>
              <a:t>Conclusion</a:t>
            </a:r>
            <a:br>
              <a:rPr lang="en-IN" b="1" dirty="0">
                <a:latin typeface="Arial Rounded MT Bold" panose="020F0704030504030204" pitchFamily="34" charset="0"/>
              </a:rPr>
            </a:br>
            <a:endParaRPr lang="en-IN"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33D354F7-8132-1DAB-A4E0-157E0D3D0458}"/>
              </a:ext>
            </a:extLst>
          </p:cNvPr>
          <p:cNvSpPr>
            <a:spLocks noGrp="1"/>
          </p:cNvSpPr>
          <p:nvPr>
            <p:ph idx="1"/>
          </p:nvPr>
        </p:nvSpPr>
        <p:spPr>
          <a:xfrm>
            <a:off x="745066" y="1253331"/>
            <a:ext cx="10515600" cy="4351338"/>
          </a:xfrm>
        </p:spPr>
        <p:txBody>
          <a:bodyPr>
            <a:normAutofit/>
          </a:bodyPr>
          <a:lstStyle/>
          <a:p>
            <a:pPr>
              <a:lnSpc>
                <a:spcPct val="150000"/>
              </a:lnSpc>
              <a:buFont typeface="Wingdings" panose="05000000000000000000" pitchFamily="2" charset="2"/>
              <a:buChar char="Ø"/>
            </a:pPr>
            <a:endParaRPr lang="en-IN" sz="2400" b="1" dirty="0">
              <a:latin typeface="Bell MT" panose="02020503060305020303" pitchFamily="18" charset="0"/>
            </a:endParaRPr>
          </a:p>
          <a:p>
            <a:pPr>
              <a:lnSpc>
                <a:spcPct val="150000"/>
              </a:lnSpc>
              <a:buFont typeface="Wingdings" panose="05000000000000000000" pitchFamily="2" charset="2"/>
              <a:buChar char="Ø"/>
            </a:pPr>
            <a:r>
              <a:rPr lang="en-IN" sz="2400" dirty="0">
                <a:latin typeface="Bell MT" panose="02020503060305020303" pitchFamily="18" charset="0"/>
              </a:rPr>
              <a:t>Mobile Operating Systems manage hardware and software resources efficiently. </a:t>
            </a:r>
          </a:p>
          <a:p>
            <a:pPr>
              <a:lnSpc>
                <a:spcPct val="150000"/>
              </a:lnSpc>
              <a:buFont typeface="Wingdings" panose="05000000000000000000" pitchFamily="2" charset="2"/>
              <a:buChar char="Ø"/>
            </a:pPr>
            <a:r>
              <a:rPr lang="en-IN" sz="2400" dirty="0">
                <a:latin typeface="Bell MT" panose="02020503060305020303" pitchFamily="18" charset="0"/>
              </a:rPr>
              <a:t>Android and iOS are the most widely used mobile operating systems. </a:t>
            </a:r>
          </a:p>
          <a:p>
            <a:pPr>
              <a:lnSpc>
                <a:spcPct val="150000"/>
              </a:lnSpc>
              <a:buFont typeface="Wingdings" panose="05000000000000000000" pitchFamily="2" charset="2"/>
              <a:buChar char="Ø"/>
            </a:pPr>
            <a:r>
              <a:rPr lang="en-IN" sz="2400" dirty="0">
                <a:latin typeface="Bell MT" panose="02020503060305020303" pitchFamily="18" charset="0"/>
              </a:rPr>
              <a:t>Their layered architecture improves modularity, security, and performance. </a:t>
            </a:r>
          </a:p>
          <a:p>
            <a:pPr>
              <a:lnSpc>
                <a:spcPct val="150000"/>
              </a:lnSpc>
              <a:buFont typeface="Wingdings" panose="05000000000000000000" pitchFamily="2" charset="2"/>
              <a:buChar char="Ø"/>
            </a:pPr>
            <a:r>
              <a:rPr lang="en-IN" sz="2400" dirty="0">
                <a:latin typeface="Bell MT" panose="02020503060305020303" pitchFamily="18" charset="0"/>
              </a:rPr>
              <a:t>Future mobile operating systems will become more intelligent, secure, and energy-efficient. </a:t>
            </a:r>
          </a:p>
          <a:p>
            <a:pPr>
              <a:lnSpc>
                <a:spcPct val="150000"/>
              </a:lnSpc>
              <a:buFont typeface="Wingdings" panose="05000000000000000000" pitchFamily="2" charset="2"/>
              <a:buChar char="Ø"/>
            </a:pPr>
            <a:endParaRPr lang="en-IN" sz="2400" dirty="0">
              <a:latin typeface="Bell MT" panose="02020503060305020303" pitchFamily="18" charset="0"/>
            </a:endParaRPr>
          </a:p>
        </p:txBody>
      </p:sp>
    </p:spTree>
    <p:extLst>
      <p:ext uri="{BB962C8B-B14F-4D97-AF65-F5344CB8AC3E}">
        <p14:creationId xmlns:p14="http://schemas.microsoft.com/office/powerpoint/2010/main" val="2239018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5ABB-D0B5-4E2D-C098-14A4AC3CAE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EA4C2CF-AAE4-3A82-0E78-DCB56D95792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681921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6BC23-2750-7CD1-24AC-9C7ADD2AA6C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586790-06E8-2E14-2867-6E99D64E42C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236252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576</Words>
  <Application>Microsoft Office PowerPoint</Application>
  <PresentationFormat>Widescreen</PresentationFormat>
  <Paragraphs>143</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Display</vt:lpstr>
      <vt:lpstr>Arial</vt:lpstr>
      <vt:lpstr>Arial Rounded MT Bold</vt:lpstr>
      <vt:lpstr>Bell MT</vt:lpstr>
      <vt:lpstr>Times New Roman</vt:lpstr>
      <vt:lpstr>Wingdings</vt:lpstr>
      <vt:lpstr>Office Theme</vt:lpstr>
      <vt:lpstr>                                       Technical Presentation</vt:lpstr>
      <vt:lpstr>Introduction</vt:lpstr>
      <vt:lpstr>Features of Mobile Operating Systems </vt:lpstr>
      <vt:lpstr>Mobile OS Architecture</vt:lpstr>
      <vt:lpstr>Android Architecture Components definition </vt:lpstr>
      <vt:lpstr>Process Management </vt:lpstr>
      <vt:lpstr>Memory Management </vt:lpstr>
      <vt:lpstr>PowerPoint Presentation</vt:lpstr>
      <vt:lpstr>Difference between operating systems and android</vt:lpstr>
      <vt:lpstr>Comparision of Android vs iOS</vt:lpstr>
      <vt:lpstr>Conclusion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jayavenkatasai224@outlook.com</dc:creator>
  <cp:lastModifiedBy>jayavenkatasai224@outlook.com</cp:lastModifiedBy>
  <cp:revision>2</cp:revision>
  <dcterms:created xsi:type="dcterms:W3CDTF">2026-07-19T12:42:17Z</dcterms:created>
  <dcterms:modified xsi:type="dcterms:W3CDTF">2026-07-19T13:05:16Z</dcterms:modified>
</cp:coreProperties>
</file>